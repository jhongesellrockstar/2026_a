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embedTrueTypeFonts="1" saveSubsetFonts="1">
  <p:sldMasterIdLst>
    <p:sldMasterId id="2147483660" r:id="rId1"/>
  </p:sldMasterIdLst>
  <p:notesMasterIdLst>
    <p:notesMasterId r:id="rId2"/>
  </p:notesMasterIdLst>
  <p:sldIdLst>
    <p:sldId id="269" r:id="rId3"/>
    <p:sldId id="270" r:id="rId4"/>
    <p:sldId id="271" r:id="rId5"/>
    <p:sldId id="272" r:id="rId6"/>
    <p:sldId id="273" r:id="rId7"/>
    <p:sldId id="274" r:id="rId8"/>
    <p:sldId id="275" r:id="rId9"/>
    <p:sldId id="276" r:id="rId10"/>
    <p:sldId id="277" r:id="rId11"/>
    <p:sldId id="278" r:id="rId12"/>
    <p:sldId id="279" r:id="rId13"/>
    <p:sldId id="280" r:id="rId14"/>
  </p:sldIdLst>
  <p:sldSz cy="10287000" cx="18288000"/>
  <p:notesSz cx="6858000" cy="9144000"/>
  <p:embeddedFontLst>
    <p:embeddedFont>
      <p:font typeface="RQND Pro Medium" panose="00000500000000000000" charset="1"/>
      <p:regular r:id="rId15"/>
    </p:embeddedFont>
    <p:embeddedFont>
      <p:font typeface="RQND Pro" panose="00000500000000000000" charset="1"/>
      <p:regular r:id="rId16"/>
    </p:embeddedFont>
    <p:embeddedFont>
      <p:font typeface="Arian Bold" panose="020B0805020202050204" charset="1"/>
      <p:regular r:id="rId17"/>
    </p:embeddedFont>
    <p:embeddedFont>
      <p:font typeface="Arian" panose="020B0505020202050204" charset="1"/>
      <p:regular r:id="rId18"/>
    </p:embeddedFont>
    <p:embeddedFont>
      <p:font typeface="Open Sans" panose="00000000000000000000" charset="1"/>
      <p:regular r:id="rId19"/>
    </p:embeddedFont>
    <p:embeddedFont>
      <p:font typeface="Open Sans Bold" panose="00000000000000000000" charset="1"/>
      <p:regular r:id="rId20"/>
    </p:embeddedFont>
    <p:embeddedFont>
      <p:font typeface="TT Commons Pro" panose="020B0103030102020204" charset="1"/>
      <p:regular r:id="rId21"/>
    </p:embeddedFont>
    <p:embeddedFont>
      <p:font typeface="RQND Pro Condensed" panose="00000500000000000000" charset="1"/>
      <p:regular r:id="rId22"/>
    </p:embeddedFont>
    <p:embeddedFont>
      <p:font typeface="TT Commons Pro Bold" panose="020B0103030102020204" charset="1"/>
      <p:regular r:id="rId23"/>
    </p:embeddedFont>
  </p:embeddedFontLst>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tableStyles" Target="tableStyle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0" name=""/>
        <p:cNvGrpSpPr/>
        <p:nvPr/>
      </p:nvGrpSpPr>
      <p:grpSpPr>
        <a:xfrm>
          <a:off x="0" y="0"/>
          <a:ext cx="0" cy="0"/>
          <a:chOff x="0" y="0"/>
          <a:chExt cx="0" cy="0"/>
        </a:xfrm>
      </p:grpSpPr>
      <p:sp>
        <p:nvSpPr>
          <p:cNvPr id="1048846"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847"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848"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849"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850"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851"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59" name=""/>
        <p:cNvGrpSpPr/>
        <p:nvPr/>
      </p:nvGrpSpPr>
      <p:grpSpPr>
        <a:xfrm>
          <a:off x="0" y="0"/>
          <a:ext cx="0" cy="0"/>
          <a:chOff x="0" y="0"/>
          <a:chExt cx="0" cy="0"/>
        </a:xfrm>
      </p:grpSpPr>
      <p:sp>
        <p:nvSpPr>
          <p:cNvPr id="1048791"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79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793"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94" name="Footer Placeholder 4"/>
          <p:cNvSpPr>
            <a:spLocks noGrp="1"/>
          </p:cNvSpPr>
          <p:nvPr>
            <p:ph type="ftr" sz="quarter" idx="11"/>
          </p:nvPr>
        </p:nvSpPr>
        <p:spPr/>
        <p:txBody>
          <a:bodyPr/>
          <a:p>
            <a:endParaRPr lang="en-US"/>
          </a:p>
        </p:txBody>
      </p:sp>
      <p:sp>
        <p:nvSpPr>
          <p:cNvPr id="1048795"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2" name=""/>
        <p:cNvGrpSpPr/>
        <p:nvPr/>
      </p:nvGrpSpPr>
      <p:grpSpPr>
        <a:xfrm>
          <a:off x="0" y="0"/>
          <a:ext cx="0" cy="0"/>
          <a:chOff x="0" y="0"/>
          <a:chExt cx="0" cy="0"/>
        </a:xfrm>
      </p:grpSpPr>
      <p:sp>
        <p:nvSpPr>
          <p:cNvPr id="1048805" name="Title 1"/>
          <p:cNvSpPr>
            <a:spLocks noGrp="1"/>
          </p:cNvSpPr>
          <p:nvPr>
            <p:ph type="title"/>
          </p:nvPr>
        </p:nvSpPr>
        <p:spPr/>
        <p:txBody>
          <a:bodyPr/>
          <a:p>
            <a:r>
              <a:rPr lang="en-US" smtClean="0"/>
              <a:t>Click to edit Master title style</a:t>
            </a:r>
            <a:endParaRPr lang="en-US"/>
          </a:p>
        </p:txBody>
      </p:sp>
      <p:sp>
        <p:nvSpPr>
          <p:cNvPr id="1048806"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7"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808" name="Footer Placeholder 4"/>
          <p:cNvSpPr>
            <a:spLocks noGrp="1"/>
          </p:cNvSpPr>
          <p:nvPr>
            <p:ph type="ftr" sz="quarter" idx="11"/>
          </p:nvPr>
        </p:nvSpPr>
        <p:spPr/>
        <p:txBody>
          <a:bodyPr/>
          <a:p>
            <a:endParaRPr lang="en-US"/>
          </a:p>
        </p:txBody>
      </p:sp>
      <p:sp>
        <p:nvSpPr>
          <p:cNvPr id="1048809"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5" name=""/>
        <p:cNvGrpSpPr/>
        <p:nvPr/>
      </p:nvGrpSpPr>
      <p:grpSpPr>
        <a:xfrm>
          <a:off x="0" y="0"/>
          <a:ext cx="0" cy="0"/>
          <a:chOff x="0" y="0"/>
          <a:chExt cx="0" cy="0"/>
        </a:xfrm>
      </p:grpSpPr>
      <p:sp>
        <p:nvSpPr>
          <p:cNvPr id="1048821"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822"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823"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824" name="Footer Placeholder 4"/>
          <p:cNvSpPr>
            <a:spLocks noGrp="1"/>
          </p:cNvSpPr>
          <p:nvPr>
            <p:ph type="ftr" sz="quarter" idx="11"/>
          </p:nvPr>
        </p:nvSpPr>
        <p:spPr/>
        <p:txBody>
          <a:bodyPr/>
          <a:p>
            <a:endParaRPr lang="en-US"/>
          </a:p>
        </p:txBody>
      </p:sp>
      <p:sp>
        <p:nvSpPr>
          <p:cNvPr id="1048825"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6" name=""/>
        <p:cNvGrpSpPr/>
        <p:nvPr/>
      </p:nvGrpSpPr>
      <p:grpSpPr>
        <a:xfrm>
          <a:off x="0" y="0"/>
          <a:ext cx="0" cy="0"/>
          <a:chOff x="0" y="0"/>
          <a:chExt cx="0" cy="0"/>
        </a:xfrm>
      </p:grpSpPr>
      <p:sp>
        <p:nvSpPr>
          <p:cNvPr id="1048826" name="Title 1"/>
          <p:cNvSpPr>
            <a:spLocks noGrp="1"/>
          </p:cNvSpPr>
          <p:nvPr>
            <p:ph type="title"/>
          </p:nvPr>
        </p:nvSpPr>
        <p:spPr/>
        <p:txBody>
          <a:bodyPr/>
          <a:p>
            <a:r>
              <a:rPr lang="en-US" smtClean="0"/>
              <a:t>Click to edit Master title style</a:t>
            </a:r>
            <a:endParaRPr lang="en-US"/>
          </a:p>
        </p:txBody>
      </p:sp>
      <p:sp>
        <p:nvSpPr>
          <p:cNvPr id="104882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28"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29"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830" name="Footer Placeholder 5"/>
          <p:cNvSpPr>
            <a:spLocks noGrp="1"/>
          </p:cNvSpPr>
          <p:nvPr>
            <p:ph type="ftr" sz="quarter" idx="11"/>
          </p:nvPr>
        </p:nvSpPr>
        <p:spPr/>
        <p:txBody>
          <a:bodyPr/>
          <a:p>
            <a:endParaRPr lang="en-US"/>
          </a:p>
        </p:txBody>
      </p:sp>
      <p:sp>
        <p:nvSpPr>
          <p:cNvPr id="1048831"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7" name=""/>
        <p:cNvGrpSpPr/>
        <p:nvPr/>
      </p:nvGrpSpPr>
      <p:grpSpPr>
        <a:xfrm>
          <a:off x="0" y="0"/>
          <a:ext cx="0" cy="0"/>
          <a:chOff x="0" y="0"/>
          <a:chExt cx="0" cy="0"/>
        </a:xfrm>
      </p:grpSpPr>
      <p:sp>
        <p:nvSpPr>
          <p:cNvPr id="1048832" name="Title 1"/>
          <p:cNvSpPr>
            <a:spLocks noGrp="1"/>
          </p:cNvSpPr>
          <p:nvPr>
            <p:ph type="title"/>
          </p:nvPr>
        </p:nvSpPr>
        <p:spPr/>
        <p:txBody>
          <a:bodyPr/>
          <a:p>
            <a:r>
              <a:rPr lang="en-US" smtClean="0"/>
              <a:t>Click to edit Master title style</a:t>
            </a:r>
            <a:endParaRPr lang="en-US"/>
          </a:p>
        </p:txBody>
      </p:sp>
      <p:sp>
        <p:nvSpPr>
          <p:cNvPr id="1048833"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3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35"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3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37" name="Date Placeholder 6"/>
          <p:cNvSpPr>
            <a:spLocks noGrp="1"/>
          </p:cNvSpPr>
          <p:nvPr>
            <p:ph type="dt" sz="half" idx="10"/>
          </p:nvPr>
        </p:nvSpPr>
        <p:spPr/>
        <p:txBody>
          <a:bodyPr/>
          <a:p>
            <a:fld id="{1D8BD707-D9CF-40AE-B4C6-C98DA3205C09}" type="datetimeFigureOut">
              <a:rPr lang="en-US" smtClean="0"/>
              <a:t>8/1/2011</a:t>
            </a:fld>
            <a:endParaRPr lang="en-US"/>
          </a:p>
        </p:txBody>
      </p:sp>
      <p:sp>
        <p:nvSpPr>
          <p:cNvPr id="1048838" name="Footer Placeholder 7"/>
          <p:cNvSpPr>
            <a:spLocks noGrp="1"/>
          </p:cNvSpPr>
          <p:nvPr>
            <p:ph type="ftr" sz="quarter" idx="11"/>
          </p:nvPr>
        </p:nvSpPr>
        <p:spPr/>
        <p:txBody>
          <a:bodyPr/>
          <a:p>
            <a:endParaRPr lang="en-US"/>
          </a:p>
        </p:txBody>
      </p:sp>
      <p:sp>
        <p:nvSpPr>
          <p:cNvPr id="1048839"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60" name=""/>
        <p:cNvGrpSpPr/>
        <p:nvPr/>
      </p:nvGrpSpPr>
      <p:grpSpPr>
        <a:xfrm>
          <a:off x="0" y="0"/>
          <a:ext cx="0" cy="0"/>
          <a:chOff x="0" y="0"/>
          <a:chExt cx="0" cy="0"/>
        </a:xfrm>
      </p:grpSpPr>
      <p:sp>
        <p:nvSpPr>
          <p:cNvPr id="1048796" name="Title 1"/>
          <p:cNvSpPr>
            <a:spLocks noGrp="1"/>
          </p:cNvSpPr>
          <p:nvPr>
            <p:ph type="title"/>
          </p:nvPr>
        </p:nvSpPr>
        <p:spPr/>
        <p:txBody>
          <a:bodyPr/>
          <a:p>
            <a:r>
              <a:rPr lang="en-US" smtClean="0"/>
              <a:t>Click to edit Master title style</a:t>
            </a:r>
            <a:endParaRPr lang="en-US"/>
          </a:p>
        </p:txBody>
      </p:sp>
      <p:sp>
        <p:nvSpPr>
          <p:cNvPr id="1048797" name="Date Placeholder 2"/>
          <p:cNvSpPr>
            <a:spLocks noGrp="1"/>
          </p:cNvSpPr>
          <p:nvPr>
            <p:ph type="dt" sz="half" idx="10"/>
          </p:nvPr>
        </p:nvSpPr>
        <p:spPr/>
        <p:txBody>
          <a:bodyPr/>
          <a:p>
            <a:fld id="{1D8BD707-D9CF-40AE-B4C6-C98DA3205C09}" type="datetimeFigureOut">
              <a:rPr lang="en-US" smtClean="0"/>
              <a:t>8/1/2011</a:t>
            </a:fld>
            <a:endParaRPr lang="en-US"/>
          </a:p>
        </p:txBody>
      </p:sp>
      <p:sp>
        <p:nvSpPr>
          <p:cNvPr id="1048798" name="Footer Placeholder 3"/>
          <p:cNvSpPr>
            <a:spLocks noGrp="1"/>
          </p:cNvSpPr>
          <p:nvPr>
            <p:ph type="ftr" sz="quarter" idx="11"/>
          </p:nvPr>
        </p:nvSpPr>
        <p:spPr/>
        <p:txBody>
          <a:bodyPr/>
          <a:p>
            <a:endParaRPr lang="en-US"/>
          </a:p>
        </p:txBody>
      </p:sp>
      <p:sp>
        <p:nvSpPr>
          <p:cNvPr id="1048799"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5" name=""/>
        <p:cNvGrpSpPr/>
        <p:nvPr/>
      </p:nvGrpSpPr>
      <p:grpSpPr>
        <a:xfrm>
          <a:off x="0" y="0"/>
          <a:ext cx="0" cy="0"/>
          <a:chOff x="0" y="0"/>
          <a:chExt cx="0" cy="0"/>
        </a:xfrm>
      </p:grpSpPr>
      <p:sp>
        <p:nvSpPr>
          <p:cNvPr id="1048581" name="Date Placeholder 1"/>
          <p:cNvSpPr>
            <a:spLocks noGrp="1"/>
          </p:cNvSpPr>
          <p:nvPr>
            <p:ph type="dt" sz="half" idx="10"/>
          </p:nvPr>
        </p:nvSpPr>
        <p:spPr/>
        <p:txBody>
          <a:bodyPr/>
          <a:p>
            <a:fld id="{1D8BD707-D9CF-40AE-B4C6-C98DA3205C09}" type="datetimeFigureOut">
              <a:rPr lang="en-US" smtClean="0"/>
              <a:t>8/1/2011</a:t>
            </a:fld>
            <a:endParaRPr lang="en-US"/>
          </a:p>
        </p:txBody>
      </p:sp>
      <p:sp>
        <p:nvSpPr>
          <p:cNvPr id="1048582" name="Footer Placeholder 2"/>
          <p:cNvSpPr>
            <a:spLocks noGrp="1"/>
          </p:cNvSpPr>
          <p:nvPr>
            <p:ph type="ftr" sz="quarter" idx="11"/>
          </p:nvPr>
        </p:nvSpPr>
        <p:spPr/>
        <p:txBody>
          <a:bodyPr/>
          <a:p>
            <a:endParaRPr lang="en-US"/>
          </a:p>
        </p:txBody>
      </p:sp>
      <p:sp>
        <p:nvSpPr>
          <p:cNvPr id="1048583" name="Slide Number Placeholder 3"/>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8" name=""/>
        <p:cNvGrpSpPr/>
        <p:nvPr/>
      </p:nvGrpSpPr>
      <p:grpSpPr>
        <a:xfrm>
          <a:off x="0" y="0"/>
          <a:ext cx="0" cy="0"/>
          <a:chOff x="0" y="0"/>
          <a:chExt cx="0" cy="0"/>
        </a:xfrm>
      </p:grpSpPr>
      <p:sp>
        <p:nvSpPr>
          <p:cNvPr id="1048840"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8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42"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43"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844" name="Footer Placeholder 5"/>
          <p:cNvSpPr>
            <a:spLocks noGrp="1"/>
          </p:cNvSpPr>
          <p:nvPr>
            <p:ph type="ftr" sz="quarter" idx="11"/>
          </p:nvPr>
        </p:nvSpPr>
        <p:spPr/>
        <p:txBody>
          <a:bodyPr/>
          <a:p>
            <a:endParaRPr lang="en-US"/>
          </a:p>
        </p:txBody>
      </p:sp>
      <p:sp>
        <p:nvSpPr>
          <p:cNvPr id="1048845"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3" name=""/>
        <p:cNvGrpSpPr/>
        <p:nvPr/>
      </p:nvGrpSpPr>
      <p:grpSpPr>
        <a:xfrm>
          <a:off x="0" y="0"/>
          <a:ext cx="0" cy="0"/>
          <a:chOff x="0" y="0"/>
          <a:chExt cx="0" cy="0"/>
        </a:xfrm>
      </p:grpSpPr>
      <p:sp>
        <p:nvSpPr>
          <p:cNvPr id="1048810"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811"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812"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13"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814" name="Footer Placeholder 5"/>
          <p:cNvSpPr>
            <a:spLocks noGrp="1"/>
          </p:cNvSpPr>
          <p:nvPr>
            <p:ph type="ftr" sz="quarter" idx="11"/>
          </p:nvPr>
        </p:nvSpPr>
        <p:spPr/>
        <p:txBody>
          <a:bodyPr/>
          <a:p>
            <a:endParaRPr lang="en-US"/>
          </a:p>
        </p:txBody>
      </p:sp>
      <p:sp>
        <p:nvSpPr>
          <p:cNvPr id="1048815"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4" name=""/>
        <p:cNvGrpSpPr/>
        <p:nvPr/>
      </p:nvGrpSpPr>
      <p:grpSpPr>
        <a:xfrm>
          <a:off x="0" y="0"/>
          <a:ext cx="0" cy="0"/>
          <a:chOff x="0" y="0"/>
          <a:chExt cx="0" cy="0"/>
        </a:xfrm>
      </p:grpSpPr>
      <p:sp>
        <p:nvSpPr>
          <p:cNvPr id="1048816" name="Title 1"/>
          <p:cNvSpPr>
            <a:spLocks noGrp="1"/>
          </p:cNvSpPr>
          <p:nvPr>
            <p:ph type="title"/>
          </p:nvPr>
        </p:nvSpPr>
        <p:spPr/>
        <p:txBody>
          <a:bodyPr/>
          <a:p>
            <a:r>
              <a:rPr lang="en-US" smtClean="0"/>
              <a:t>Click to edit Master title style</a:t>
            </a:r>
            <a:endParaRPr lang="en-US"/>
          </a:p>
        </p:txBody>
      </p:sp>
      <p:sp>
        <p:nvSpPr>
          <p:cNvPr id="1048817"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18"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819" name="Footer Placeholder 4"/>
          <p:cNvSpPr>
            <a:spLocks noGrp="1"/>
          </p:cNvSpPr>
          <p:nvPr>
            <p:ph type="ftr" sz="quarter" idx="11"/>
          </p:nvPr>
        </p:nvSpPr>
        <p:spPr/>
        <p:txBody>
          <a:bodyPr/>
          <a:p>
            <a:endParaRPr lang="en-US"/>
          </a:p>
        </p:txBody>
      </p:sp>
      <p:sp>
        <p:nvSpPr>
          <p:cNvPr id="1048820"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1" name=""/>
        <p:cNvGrpSpPr/>
        <p:nvPr/>
      </p:nvGrpSpPr>
      <p:grpSpPr>
        <a:xfrm>
          <a:off x="0" y="0"/>
          <a:ext cx="0" cy="0"/>
          <a:chOff x="0" y="0"/>
          <a:chExt cx="0" cy="0"/>
        </a:xfrm>
      </p:grpSpPr>
      <p:sp>
        <p:nvSpPr>
          <p:cNvPr id="1048800"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801"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2"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803" name="Footer Placeholder 4"/>
          <p:cNvSpPr>
            <a:spLocks noGrp="1"/>
          </p:cNvSpPr>
          <p:nvPr>
            <p:ph type="ftr" sz="quarter" idx="11"/>
          </p:nvPr>
        </p:nvSpPr>
        <p:spPr/>
        <p:txBody>
          <a:bodyPr/>
          <a:p>
            <a:endParaRPr lang="en-US"/>
          </a:p>
        </p:txBody>
      </p:sp>
      <p:sp>
        <p:nvSpPr>
          <p:cNvPr id="1048804"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t>8/1/2011</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38" name=""/>
        <p:cNvGrpSpPr/>
        <p:nvPr/>
      </p:nvGrpSpPr>
      <p:grpSpPr>
        <a:xfrm>
          <a:off x="0" y="0"/>
          <a:ext cx="0" cy="0"/>
          <a:chOff x="0" y="0"/>
          <a:chExt cx="0" cy="0"/>
        </a:xfrm>
      </p:grpSpPr>
      <p:grpSp>
        <p:nvGrpSpPr>
          <p:cNvPr id="39" name="Group 2"/>
          <p:cNvGrpSpPr/>
          <p:nvPr/>
        </p:nvGrpSpPr>
        <p:grpSpPr>
          <a:xfrm rot="0">
            <a:off x="560181" y="580551"/>
            <a:ext cx="17167638" cy="9125897"/>
            <a:chOff x="0" y="0"/>
            <a:chExt cx="4521518" cy="2403529"/>
          </a:xfrm>
        </p:grpSpPr>
        <p:sp>
          <p:nvSpPr>
            <p:cNvPr id="1048652"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653"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654"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655"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656" name="AutoShape 7"/>
          <p:cNvSpPr/>
          <p:nvPr/>
        </p:nvSpPr>
        <p:spPr>
          <a:xfrm flipV="1">
            <a:off x="12209740" y="580551"/>
            <a:ext cx="0" cy="7220907"/>
          </a:xfrm>
          <a:prstGeom prst="line"/>
          <a:ln w="9525" cap="flat">
            <a:solidFill>
              <a:srgbClr val="000000"/>
            </a:solidFill>
            <a:prstDash val="solid"/>
            <a:headEnd type="none" w="sm" len="sm"/>
            <a:tailEnd type="none" w="sm" len="sm"/>
          </a:ln>
        </p:spPr>
      </p:sp>
      <p:sp>
        <p:nvSpPr>
          <p:cNvPr id="1048657"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658" name="Freeform 9"/>
          <p:cNvSpPr/>
          <p:nvPr/>
        </p:nvSpPr>
        <p:spPr>
          <a:xfrm rot="0" flipH="0" flipV="0">
            <a:off x="8738394" y="80754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40" name="Group 10"/>
          <p:cNvGrpSpPr/>
          <p:nvPr/>
        </p:nvGrpSpPr>
        <p:grpSpPr>
          <a:xfrm rot="0">
            <a:off x="1485978" y="8180971"/>
            <a:ext cx="1796555" cy="1077329"/>
            <a:chOff x="0" y="0"/>
            <a:chExt cx="6349746" cy="3807714"/>
          </a:xfrm>
        </p:grpSpPr>
        <p:sp>
          <p:nvSpPr>
            <p:cNvPr id="1048659"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660"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661"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662" name="TextBox 14"/>
          <p:cNvSpPr txBox="1"/>
          <p:nvPr/>
        </p:nvSpPr>
        <p:spPr>
          <a:xfrm rot="0">
            <a:off x="1028700" y="2131111"/>
            <a:ext cx="10261144" cy="2297311"/>
          </a:xfrm>
          <a:prstGeom prst="rect"/>
        </p:spPr>
        <p:txBody>
          <a:bodyPr anchor="t" bIns="0" lIns="0" rIns="0" rtlCol="0" tIns="0">
            <a:spAutoFit/>
          </a:bodyPr>
          <a:p>
            <a:pPr algn="l">
              <a:lnSpc>
                <a:spcPts val="18767"/>
              </a:lnSpc>
            </a:pPr>
            <a:r>
              <a:rPr sz="13405" lang="en-US" spc="563">
                <a:solidFill>
                  <a:srgbClr val="4C4A4A"/>
                </a:solidFill>
                <a:latin typeface="RQND Pro Medium"/>
                <a:ea typeface="RQND Pro Medium"/>
                <a:cs typeface="RQND Pro Medium"/>
                <a:sym typeface="RQND Pro Medium"/>
              </a:rPr>
              <a:t>Análisis</a:t>
            </a:r>
          </a:p>
        </p:txBody>
      </p:sp>
      <p:sp>
        <p:nvSpPr>
          <p:cNvPr id="1048663" name="TextBox 15"/>
          <p:cNvSpPr txBox="1"/>
          <p:nvPr/>
        </p:nvSpPr>
        <p:spPr>
          <a:xfrm rot="0">
            <a:off x="1028700" y="4243454"/>
            <a:ext cx="10889417" cy="1251571"/>
          </a:xfrm>
          <a:prstGeom prst="rect"/>
        </p:spPr>
        <p:txBody>
          <a:bodyPr anchor="t" bIns="0" lIns="0" rIns="0" rtlCol="0" tIns="0">
            <a:spAutoFit/>
          </a:bodyPr>
          <a:p>
            <a:pPr algn="l">
              <a:lnSpc>
                <a:spcPts val="5040"/>
              </a:lnSpc>
            </a:pPr>
            <a:r>
              <a:rPr sz="3600" lang="en-US" spc="151">
                <a:solidFill>
                  <a:srgbClr val="4C4A4A"/>
                </a:solidFill>
                <a:latin typeface="RQND Pro"/>
                <a:ea typeface="RQND Pro"/>
                <a:cs typeface="RQND Pro"/>
                <a:sym typeface="RQND Pro"/>
              </a:rPr>
              <a:t>Comparativo de los sistemas duros y blandos aplicado a un sistema organizacional.</a:t>
            </a:r>
          </a:p>
        </p:txBody>
      </p:sp>
      <p:sp>
        <p:nvSpPr>
          <p:cNvPr id="1048664" name="TextBox 16"/>
          <p:cNvSpPr txBox="1"/>
          <p:nvPr/>
        </p:nvSpPr>
        <p:spPr>
          <a:xfrm rot="0">
            <a:off x="1485978" y="864329"/>
            <a:ext cx="5824451" cy="410845"/>
          </a:xfrm>
          <a:prstGeom prst="rect"/>
        </p:spPr>
        <p:txBody>
          <a:bodyPr anchor="t" bIns="0" lIns="0" rIns="0" rtlCol="0" tIns="0">
            <a:spAutoFit/>
          </a:bodyPr>
          <a:p>
            <a:pPr algn="l">
              <a:lnSpc>
                <a:spcPts val="3079"/>
              </a:lnSpc>
            </a:pPr>
            <a:r>
              <a:rPr b="1" sz="2199" lang="en-US">
                <a:solidFill>
                  <a:srgbClr val="4C4A4A"/>
                </a:solidFill>
                <a:latin typeface="Arian Bold"/>
                <a:ea typeface="Arian Bold"/>
                <a:cs typeface="Arian Bold"/>
                <a:sym typeface="Arian Bold"/>
              </a:rPr>
              <a:t>UNIVERSIDAD NACIONAL DEL CALLAO</a:t>
            </a:r>
          </a:p>
        </p:txBody>
      </p:sp>
      <p:sp>
        <p:nvSpPr>
          <p:cNvPr id="1048665" name="TextBox 17"/>
          <p:cNvSpPr txBox="1"/>
          <p:nvPr/>
        </p:nvSpPr>
        <p:spPr>
          <a:xfrm rot="0">
            <a:off x="10421738" y="8500878"/>
            <a:ext cx="5379099"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INTRODUCCION A LA ING. DE SISTEMAS</a:t>
            </a:r>
          </a:p>
        </p:txBody>
      </p:sp>
      <p:sp>
        <p:nvSpPr>
          <p:cNvPr id="1048666" name="TextBox 18"/>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PRESENTACIÓN</a:t>
            </a:r>
          </a:p>
        </p:txBody>
      </p:sp>
      <p:sp>
        <p:nvSpPr>
          <p:cNvPr id="1048667" name="Freeform 19"/>
          <p:cNvSpPr/>
          <p:nvPr/>
        </p:nvSpPr>
        <p:spPr>
          <a:xfrm rot="0" flipH="0" flipV="0">
            <a:off x="12876816" y="2388286"/>
            <a:ext cx="4340351" cy="4529778"/>
          </a:xfrm>
          <a:custGeom>
            <a:avLst/>
            <a:ahLst/>
            <a:rect l="l" t="t" r="r" b="b"/>
            <a:pathLst>
              <a:path w="4340351" h="4529778">
                <a:moveTo>
                  <a:pt x="0" y="0"/>
                </a:moveTo>
                <a:lnTo>
                  <a:pt x="4340350" y="0"/>
                </a:lnTo>
                <a:lnTo>
                  <a:pt x="4340350" y="4529778"/>
                </a:lnTo>
                <a:lnTo>
                  <a:pt x="0" y="4529778"/>
                </a:lnTo>
                <a:lnTo>
                  <a:pt x="0" y="0"/>
                </a:lnTo>
                <a:close/>
              </a:path>
            </a:pathLst>
          </a:custGeom>
          <a:blipFill>
            <a:blip xmlns:r="http://schemas.openxmlformats.org/officeDocument/2006/relationships" r:embed="rId4"/>
            <a:stretch>
              <a:fillRect l="0" t="0" r="0" b="0"/>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41" name=""/>
        <p:cNvGrpSpPr/>
        <p:nvPr/>
      </p:nvGrpSpPr>
      <p:grpSpPr>
        <a:xfrm>
          <a:off x="0" y="0"/>
          <a:ext cx="0" cy="0"/>
          <a:chOff x="0" y="0"/>
          <a:chExt cx="0" cy="0"/>
        </a:xfrm>
      </p:grpSpPr>
      <p:grpSp>
        <p:nvGrpSpPr>
          <p:cNvPr id="42" name="Group 2"/>
          <p:cNvGrpSpPr/>
          <p:nvPr/>
        </p:nvGrpSpPr>
        <p:grpSpPr>
          <a:xfrm rot="0">
            <a:off x="560181" y="580551"/>
            <a:ext cx="17167638" cy="9125897"/>
            <a:chOff x="0" y="0"/>
            <a:chExt cx="4521518" cy="2403529"/>
          </a:xfrm>
        </p:grpSpPr>
        <p:sp>
          <p:nvSpPr>
            <p:cNvPr id="1048668"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669"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670"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671"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672"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673"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674"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43" name="Group 10"/>
          <p:cNvGrpSpPr/>
          <p:nvPr/>
        </p:nvGrpSpPr>
        <p:grpSpPr>
          <a:xfrm rot="0">
            <a:off x="1485978" y="8180971"/>
            <a:ext cx="1796555" cy="1077329"/>
            <a:chOff x="0" y="0"/>
            <a:chExt cx="6349746" cy="3807714"/>
          </a:xfrm>
        </p:grpSpPr>
        <p:sp>
          <p:nvSpPr>
            <p:cNvPr id="1048675"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676"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677"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678" name="TextBox 14"/>
          <p:cNvSpPr txBox="1"/>
          <p:nvPr/>
        </p:nvSpPr>
        <p:spPr>
          <a:xfrm rot="0">
            <a:off x="1028700" y="1805159"/>
            <a:ext cx="8920162" cy="2471207"/>
          </a:xfrm>
          <a:prstGeom prst="rect"/>
        </p:spPr>
        <p:txBody>
          <a:bodyPr anchor="t" bIns="0" lIns="0" rIns="0" rtlCol="0" tIns="0">
            <a:spAutoFit/>
          </a:bodyPr>
          <a:p>
            <a:pPr algn="l">
              <a:lnSpc>
                <a:spcPts val="13871"/>
              </a:lnSpc>
            </a:pPr>
            <a:r>
              <a:rPr sz="9908" lang="en-US" spc="416">
                <a:solidFill>
                  <a:srgbClr val="4C4A4A"/>
                </a:solidFill>
                <a:latin typeface="RQND Pro Medium"/>
                <a:ea typeface="RQND Pro Medium"/>
                <a:cs typeface="RQND Pro Medium"/>
                <a:sym typeface="RQND Pro Medium"/>
              </a:rPr>
              <a:t>Bienvenidos:</a:t>
            </a:r>
          </a:p>
          <a:p>
            <a:pPr algn="l">
              <a:lnSpc>
                <a:spcPts val="5612"/>
              </a:lnSpc>
            </a:pPr>
            <a:r>
              <a:rPr sz="4008" lang="en-US" spc="168">
                <a:solidFill>
                  <a:srgbClr val="4C4A4A"/>
                </a:solidFill>
                <a:latin typeface="RQND Pro Medium"/>
                <a:ea typeface="RQND Pro Medium"/>
                <a:cs typeface="RQND Pro Medium"/>
                <a:sym typeface="RQND Pro Medium"/>
              </a:rPr>
              <a:t>Equipo conformado por:</a:t>
            </a:r>
          </a:p>
        </p:txBody>
      </p:sp>
      <p:sp>
        <p:nvSpPr>
          <p:cNvPr id="1048679" name="TextBox 15"/>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PRESENTACION</a:t>
            </a:r>
          </a:p>
        </p:txBody>
      </p:sp>
      <p:sp>
        <p:nvSpPr>
          <p:cNvPr id="1048680" name="Freeform 16"/>
          <p:cNvSpPr/>
          <p:nvPr/>
        </p:nvSpPr>
        <p:spPr>
          <a:xfrm rot="0" flipH="0" flipV="0">
            <a:off x="10525125" y="1995659"/>
            <a:ext cx="4298581" cy="4448726"/>
          </a:xfrm>
          <a:custGeom>
            <a:avLst/>
            <a:ahLst/>
            <a:rect l="l" t="t" r="r" b="b"/>
            <a:pathLst>
              <a:path w="4298581" h="4448726">
                <a:moveTo>
                  <a:pt x="0" y="0"/>
                </a:moveTo>
                <a:lnTo>
                  <a:pt x="4298581" y="0"/>
                </a:lnTo>
                <a:lnTo>
                  <a:pt x="4298581" y="4448726"/>
                </a:lnTo>
                <a:lnTo>
                  <a:pt x="0" y="4448726"/>
                </a:lnTo>
                <a:lnTo>
                  <a:pt x="0" y="0"/>
                </a:lnTo>
                <a:close/>
              </a:path>
            </a:pathLst>
          </a:custGeom>
          <a:blipFill>
            <a:blip xmlns:r="http://schemas.openxmlformats.org/officeDocument/2006/relationships" r:embed="rId4"/>
            <a:stretch>
              <a:fillRect l="0" t="0" r="0" b="0"/>
            </a:stretch>
          </a:blipFill>
        </p:spPr>
      </p:sp>
      <p:sp>
        <p:nvSpPr>
          <p:cNvPr id="1048681" name="Freeform 17"/>
          <p:cNvSpPr/>
          <p:nvPr/>
        </p:nvSpPr>
        <p:spPr>
          <a:xfrm rot="0" flipH="0" flipV="0">
            <a:off x="13987502" y="4121026"/>
            <a:ext cx="3271798" cy="2932720"/>
          </a:xfrm>
          <a:custGeom>
            <a:avLst/>
            <a:ahLst/>
            <a:rect l="l" t="t" r="r" b="b"/>
            <a:pathLst>
              <a:path w="3271798" h="2932720">
                <a:moveTo>
                  <a:pt x="0" y="0"/>
                </a:moveTo>
                <a:lnTo>
                  <a:pt x="3271798" y="0"/>
                </a:lnTo>
                <a:lnTo>
                  <a:pt x="3271798" y="2932720"/>
                </a:lnTo>
                <a:lnTo>
                  <a:pt x="0" y="2932720"/>
                </a:lnTo>
                <a:lnTo>
                  <a:pt x="0" y="0"/>
                </a:lnTo>
                <a:close/>
              </a:path>
            </a:pathLst>
          </a:custGeom>
          <a:blipFill>
            <a:blip xmlns:r="http://schemas.openxmlformats.org/officeDocument/2006/relationships" r:embed="rId5"/>
            <a:stretch>
              <a:fillRect l="0" t="0" r="0" b="0"/>
            </a:stretch>
          </a:blipFill>
        </p:spPr>
      </p:sp>
      <p:sp>
        <p:nvSpPr>
          <p:cNvPr id="1048682" name="TextBox 18"/>
          <p:cNvSpPr txBox="1"/>
          <p:nvPr/>
        </p:nvSpPr>
        <p:spPr>
          <a:xfrm rot="0">
            <a:off x="1028700" y="4438292"/>
            <a:ext cx="5824451" cy="1925417"/>
          </a:xfrm>
          <a:prstGeom prst="rect"/>
        </p:spPr>
        <p:txBody>
          <a:bodyPr anchor="t" bIns="0" lIns="0" rIns="0" rtlCol="0" tIns="0">
            <a:spAutoFit/>
          </a:bodyPr>
          <a:p>
            <a:pPr algn="just">
              <a:lnSpc>
                <a:spcPts val="3074"/>
              </a:lnSpc>
            </a:pPr>
            <a:r>
              <a:rPr sz="2196" lang="en-US">
                <a:solidFill>
                  <a:srgbClr val="4C4A4A"/>
                </a:solidFill>
                <a:latin typeface="Arian"/>
                <a:ea typeface="Arian"/>
                <a:cs typeface="Arian"/>
                <a:sym typeface="Arian"/>
              </a:rPr>
              <a:t>Toledo Pacheco Anthony del Piero</a:t>
            </a:r>
          </a:p>
          <a:p>
            <a:pPr algn="just">
              <a:lnSpc>
                <a:spcPts val="3074"/>
              </a:lnSpc>
            </a:pPr>
            <a:r>
              <a:rPr sz="2196" lang="en-US">
                <a:solidFill>
                  <a:srgbClr val="4C4A4A"/>
                </a:solidFill>
                <a:latin typeface="Arian"/>
                <a:ea typeface="Arian"/>
                <a:cs typeface="Arian"/>
                <a:sym typeface="Arian"/>
              </a:rPr>
              <a:t>Miranda Peso Jesús Eduardo </a:t>
            </a:r>
          </a:p>
          <a:p>
            <a:pPr algn="just">
              <a:lnSpc>
                <a:spcPts val="3074"/>
              </a:lnSpc>
            </a:pPr>
            <a:r>
              <a:rPr sz="2196" lang="en-US">
                <a:solidFill>
                  <a:srgbClr val="4C4A4A"/>
                </a:solidFill>
                <a:latin typeface="Arian"/>
                <a:ea typeface="Arian"/>
                <a:cs typeface="Arian"/>
                <a:sym typeface="Arian"/>
              </a:rPr>
              <a:t>Flores Tarmeño Pedro Luis</a:t>
            </a:r>
          </a:p>
          <a:p>
            <a:pPr algn="just">
              <a:lnSpc>
                <a:spcPts val="3074"/>
              </a:lnSpc>
            </a:pPr>
            <a:r>
              <a:rPr sz="2196" lang="en-US">
                <a:solidFill>
                  <a:srgbClr val="4C4A4A"/>
                </a:solidFill>
                <a:latin typeface="Arian"/>
                <a:ea typeface="Arian"/>
                <a:cs typeface="Arian"/>
                <a:sym typeface="Arian"/>
              </a:rPr>
              <a:t>Bernal Perez Stefhano Maximo</a:t>
            </a:r>
          </a:p>
          <a:p>
            <a:pPr algn="just">
              <a:lnSpc>
                <a:spcPts val="3074"/>
              </a:lnSpc>
            </a:pPr>
            <a:r>
              <a:rPr sz="2196" lang="en-US">
                <a:solidFill>
                  <a:srgbClr val="4C4A4A"/>
                </a:solidFill>
                <a:latin typeface="Arian"/>
                <a:ea typeface="Arian"/>
                <a:cs typeface="Arian"/>
                <a:sym typeface="Arian"/>
              </a:rPr>
              <a:t>Villanueva Portella Jhon Gesell</a:t>
            </a:r>
          </a:p>
        </p:txBody>
      </p:sp>
      <p:sp>
        <p:nvSpPr>
          <p:cNvPr id="1048683" name="TextBox 19"/>
          <p:cNvSpPr txBox="1"/>
          <p:nvPr/>
        </p:nvSpPr>
        <p:spPr>
          <a:xfrm rot="0">
            <a:off x="10301921" y="8483098"/>
            <a:ext cx="5440859" cy="387350"/>
          </a:xfrm>
          <a:prstGeom prst="rect"/>
        </p:spPr>
        <p:txBody>
          <a:bodyPr anchor="t" bIns="0" lIns="0" rIns="0" rtlCol="0" tIns="0">
            <a:spAutoFit/>
          </a:bodyPr>
          <a:p>
            <a:pPr algn="ctr">
              <a:lnSpc>
                <a:spcPts val="2800"/>
              </a:lnSpc>
              <a:spcBef>
                <a:spcPct val="0"/>
              </a:spcBef>
            </a:pPr>
            <a:r>
              <a:rPr b="1" sz="2000" lang="en-US">
                <a:solidFill>
                  <a:srgbClr val="4C4A4A"/>
                </a:solidFill>
                <a:latin typeface="Arian Bold"/>
                <a:ea typeface="Arian Bold"/>
                <a:cs typeface="Arian Bold"/>
                <a:sym typeface="Arian Bold"/>
              </a:rPr>
              <a:t>INTRODUCCION A LA ING. DE SISTEMAS</a:t>
            </a:r>
          </a:p>
        </p:txBody>
      </p:sp>
      <p:sp>
        <p:nvSpPr>
          <p:cNvPr id="1048684" name="TextBox 20"/>
          <p:cNvSpPr txBox="1"/>
          <p:nvPr/>
        </p:nvSpPr>
        <p:spPr>
          <a:xfrm rot="0">
            <a:off x="957349" y="857104"/>
            <a:ext cx="5824451"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UNIVERSIDAD NACIONAL DEL CALLAO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44" name=""/>
        <p:cNvGrpSpPr/>
        <p:nvPr/>
      </p:nvGrpSpPr>
      <p:grpSpPr>
        <a:xfrm>
          <a:off x="0" y="0"/>
          <a:ext cx="0" cy="0"/>
          <a:chOff x="0" y="0"/>
          <a:chExt cx="0" cy="0"/>
        </a:xfrm>
      </p:grpSpPr>
      <p:grpSp>
        <p:nvGrpSpPr>
          <p:cNvPr id="45" name="Group 2"/>
          <p:cNvGrpSpPr/>
          <p:nvPr/>
        </p:nvGrpSpPr>
        <p:grpSpPr>
          <a:xfrm rot="0">
            <a:off x="560181" y="580551"/>
            <a:ext cx="17167638" cy="9125897"/>
            <a:chOff x="0" y="0"/>
            <a:chExt cx="4521518" cy="2403529"/>
          </a:xfrm>
        </p:grpSpPr>
        <p:sp>
          <p:nvSpPr>
            <p:cNvPr id="1048685"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686"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687"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688"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689"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690"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691"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46" name="Group 10"/>
          <p:cNvGrpSpPr/>
          <p:nvPr/>
        </p:nvGrpSpPr>
        <p:grpSpPr>
          <a:xfrm rot="0">
            <a:off x="1485978" y="8180971"/>
            <a:ext cx="1796555" cy="1077329"/>
            <a:chOff x="0" y="0"/>
            <a:chExt cx="6349746" cy="3807714"/>
          </a:xfrm>
        </p:grpSpPr>
        <p:sp>
          <p:nvSpPr>
            <p:cNvPr id="1048692"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693"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694"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695" name="TextBox 14"/>
          <p:cNvSpPr txBox="1"/>
          <p:nvPr/>
        </p:nvSpPr>
        <p:spPr>
          <a:xfrm rot="0">
            <a:off x="1485978" y="1966804"/>
            <a:ext cx="7890278" cy="1483784"/>
          </a:xfrm>
          <a:prstGeom prst="rect"/>
        </p:spPr>
        <p:txBody>
          <a:bodyPr anchor="t" bIns="0" lIns="0" rIns="0" rtlCol="0" tIns="0">
            <a:spAutoFit/>
          </a:bodyPr>
          <a:p>
            <a:pPr algn="l">
              <a:lnSpc>
                <a:spcPts val="12191"/>
              </a:lnSpc>
            </a:pPr>
            <a:r>
              <a:rPr sz="8708" lang="en-US" spc="365">
                <a:solidFill>
                  <a:srgbClr val="4C4A4A"/>
                </a:solidFill>
                <a:latin typeface="RQND Pro Medium"/>
                <a:ea typeface="RQND Pro Medium"/>
                <a:cs typeface="RQND Pro Medium"/>
                <a:sym typeface="RQND Pro Medium"/>
              </a:rPr>
              <a:t>Introduccion</a:t>
            </a:r>
          </a:p>
        </p:txBody>
      </p:sp>
      <p:sp>
        <p:nvSpPr>
          <p:cNvPr id="1048696" name="TextBox 15"/>
          <p:cNvSpPr txBox="1"/>
          <p:nvPr/>
        </p:nvSpPr>
        <p:spPr>
          <a:xfrm rot="0">
            <a:off x="1028700" y="865359"/>
            <a:ext cx="5973314" cy="344805"/>
          </a:xfrm>
          <a:prstGeom prst="rect"/>
        </p:spPr>
        <p:txBody>
          <a:bodyPr anchor="t" bIns="0" lIns="0" rIns="0" rtlCol="0" tIns="0">
            <a:spAutoFit/>
          </a:bodyPr>
          <a:p>
            <a:pPr algn="l">
              <a:lnSpc>
                <a:spcPts val="2520"/>
              </a:lnSpc>
            </a:pPr>
            <a:r>
              <a:rPr b="1" sz="1800" lang="en-US">
                <a:solidFill>
                  <a:srgbClr val="4C4A4A"/>
                </a:solidFill>
                <a:latin typeface="Arian Bold"/>
                <a:ea typeface="Arian Bold"/>
                <a:cs typeface="Arian Bold"/>
                <a:sym typeface="Arian Bold"/>
              </a:rPr>
              <a:t>UNIVERSIDAD NACIONAL DEL CALLAO</a:t>
            </a:r>
          </a:p>
        </p:txBody>
      </p:sp>
      <p:sp>
        <p:nvSpPr>
          <p:cNvPr id="1048697" name="TextBox 16"/>
          <p:cNvSpPr txBox="1"/>
          <p:nvPr/>
        </p:nvSpPr>
        <p:spPr>
          <a:xfrm rot="0">
            <a:off x="10555144" y="8509133"/>
            <a:ext cx="5112287" cy="344805"/>
          </a:xfrm>
          <a:prstGeom prst="rect"/>
        </p:spPr>
        <p:txBody>
          <a:bodyPr anchor="t" bIns="0" lIns="0" rIns="0" rtlCol="0" tIns="0">
            <a:spAutoFit/>
          </a:bodyPr>
          <a:p>
            <a:pPr algn="l">
              <a:lnSpc>
                <a:spcPts val="2520"/>
              </a:lnSpc>
            </a:pPr>
            <a:r>
              <a:rPr b="1" sz="1800" lang="en-US">
                <a:solidFill>
                  <a:srgbClr val="4C4A4A"/>
                </a:solidFill>
                <a:latin typeface="Arian Bold"/>
                <a:ea typeface="Arian Bold"/>
                <a:cs typeface="Arian Bold"/>
                <a:sym typeface="Arian Bold"/>
              </a:rPr>
              <a:t>INTRODUCCION A LA ING. DE SISTEMAS</a:t>
            </a:r>
          </a:p>
        </p:txBody>
      </p:sp>
      <p:sp>
        <p:nvSpPr>
          <p:cNvPr id="1048698" name="TextBox 17"/>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PRESENTACION</a:t>
            </a:r>
          </a:p>
        </p:txBody>
      </p:sp>
      <p:sp>
        <p:nvSpPr>
          <p:cNvPr id="1048699" name="TextBox 18"/>
          <p:cNvSpPr txBox="1"/>
          <p:nvPr/>
        </p:nvSpPr>
        <p:spPr>
          <a:xfrm rot="0">
            <a:off x="1253722" y="3538814"/>
            <a:ext cx="8218221" cy="3886407"/>
          </a:xfrm>
          <a:prstGeom prst="rect"/>
        </p:spPr>
        <p:txBody>
          <a:bodyPr anchor="t" bIns="0" lIns="0" rIns="0" rtlCol="0" tIns="0">
            <a:spAutoFit/>
          </a:bodyPr>
          <a:p>
            <a:pPr algn="l">
              <a:lnSpc>
                <a:spcPts val="2613"/>
              </a:lnSpc>
            </a:pPr>
            <a:r>
              <a:rPr sz="1866" lang="en-US">
                <a:solidFill>
                  <a:srgbClr val="4C4A4A"/>
                </a:solidFill>
                <a:latin typeface="Open Sans"/>
                <a:ea typeface="Open Sans"/>
                <a:cs typeface="Open Sans"/>
                <a:sym typeface="Open Sans"/>
              </a:rPr>
              <a:t>El enfoque sistémico permite entender los problemas como partes de un conjunto interrelacionado, donde lo más importante es el “todo” que las partes aisladas. Dentro de este enfoque, se clasifican en sistemas duros y blandos.</a:t>
            </a:r>
          </a:p>
          <a:p>
            <a:pPr algn="l">
              <a:lnSpc>
                <a:spcPts val="2613"/>
              </a:lnSpc>
            </a:pPr>
          </a:p>
          <a:p>
            <a:pPr algn="l">
              <a:lnSpc>
                <a:spcPts val="2613"/>
              </a:lnSpc>
            </a:pPr>
            <a:r>
              <a:rPr sz="1866" lang="en-US">
                <a:solidFill>
                  <a:srgbClr val="4C4A4A"/>
                </a:solidFill>
                <a:latin typeface="Open Sans"/>
                <a:ea typeface="Open Sans"/>
                <a:cs typeface="Open Sans"/>
                <a:sym typeface="Open Sans"/>
              </a:rPr>
              <a:t> </a:t>
            </a:r>
            <a:r>
              <a:rPr b="1" sz="1866" lang="en-US">
                <a:solidFill>
                  <a:srgbClr val="4C4A4A"/>
                </a:solidFill>
                <a:latin typeface="Open Sans Bold"/>
                <a:ea typeface="Open Sans Bold"/>
                <a:cs typeface="Open Sans Bold"/>
                <a:sym typeface="Open Sans Bold"/>
              </a:rPr>
              <a:t>- Sistemas duros:</a:t>
            </a:r>
            <a:r>
              <a:rPr sz="1866" lang="en-US">
                <a:solidFill>
                  <a:srgbClr val="4C4A4A"/>
                </a:solidFill>
                <a:latin typeface="Open Sans"/>
                <a:ea typeface="Open Sans"/>
                <a:cs typeface="Open Sans"/>
                <a:sym typeface="Open Sans"/>
              </a:rPr>
              <a:t> Abordan problemas estructurados con objetivos </a:t>
            </a:r>
          </a:p>
          <a:p>
            <a:pPr algn="l">
              <a:lnSpc>
                <a:spcPts val="2613"/>
              </a:lnSpc>
            </a:pPr>
            <a:r>
              <a:rPr sz="1866" lang="en-US">
                <a:solidFill>
                  <a:srgbClr val="4C4A4A"/>
                </a:solidFill>
                <a:latin typeface="Open Sans"/>
                <a:ea typeface="Open Sans"/>
                <a:cs typeface="Open Sans"/>
                <a:sym typeface="Open Sans"/>
              </a:rPr>
              <a:t> claros y soluciones cuantitativas.</a:t>
            </a:r>
          </a:p>
          <a:p>
            <a:pPr algn="l">
              <a:lnSpc>
                <a:spcPts val="2613"/>
              </a:lnSpc>
            </a:pPr>
          </a:p>
          <a:p>
            <a:pPr algn="l">
              <a:lnSpc>
                <a:spcPts val="2613"/>
              </a:lnSpc>
            </a:pPr>
            <a:r>
              <a:rPr sz="1866" lang="en-US">
                <a:solidFill>
                  <a:srgbClr val="4C4A4A"/>
                </a:solidFill>
                <a:latin typeface="Open Sans"/>
                <a:ea typeface="Open Sans"/>
                <a:cs typeface="Open Sans"/>
                <a:sym typeface="Open Sans"/>
              </a:rPr>
              <a:t> </a:t>
            </a:r>
            <a:r>
              <a:rPr b="1" sz="1866" lang="en-US">
                <a:solidFill>
                  <a:srgbClr val="4C4A4A"/>
                </a:solidFill>
                <a:latin typeface="Open Sans Bold"/>
                <a:ea typeface="Open Sans Bold"/>
                <a:cs typeface="Open Sans Bold"/>
                <a:sym typeface="Open Sans Bold"/>
              </a:rPr>
              <a:t>- Sistemas blandos:</a:t>
            </a:r>
            <a:r>
              <a:rPr sz="1866" lang="en-US">
                <a:solidFill>
                  <a:srgbClr val="4C4A4A"/>
                </a:solidFill>
                <a:latin typeface="Open Sans"/>
                <a:ea typeface="Open Sans"/>
                <a:cs typeface="Open Sans"/>
                <a:sym typeface="Open Sans"/>
              </a:rPr>
              <a:t> Analizan situaciones complejas con factores</a:t>
            </a:r>
          </a:p>
          <a:p>
            <a:pPr algn="l">
              <a:lnSpc>
                <a:spcPts val="2613"/>
              </a:lnSpc>
            </a:pPr>
            <a:r>
              <a:rPr sz="1866" lang="en-US">
                <a:solidFill>
                  <a:srgbClr val="4C4A4A"/>
                </a:solidFill>
                <a:latin typeface="Open Sans"/>
                <a:ea typeface="Open Sans"/>
                <a:cs typeface="Open Sans"/>
                <a:sym typeface="Open Sans"/>
              </a:rPr>
              <a:t> humanos y múltiples interpretaciones, usando enfoques</a:t>
            </a:r>
          </a:p>
          <a:p>
            <a:pPr algn="l">
              <a:lnSpc>
                <a:spcPts val="2613"/>
              </a:lnSpc>
            </a:pPr>
            <a:r>
              <a:rPr sz="1866" lang="en-US">
                <a:solidFill>
                  <a:srgbClr val="4C4A4A"/>
                </a:solidFill>
                <a:latin typeface="Open Sans"/>
                <a:ea typeface="Open Sans"/>
                <a:cs typeface="Open Sans"/>
                <a:sym typeface="Open Sans"/>
              </a:rPr>
              <a:t> cualitativos. </a:t>
            </a:r>
          </a:p>
          <a:p>
            <a:pPr algn="l">
              <a:lnSpc>
                <a:spcPts val="2613"/>
              </a:lnSpc>
            </a:pPr>
          </a:p>
        </p:txBody>
      </p:sp>
      <p:sp>
        <p:nvSpPr>
          <p:cNvPr id="1048700" name="Freeform 19"/>
          <p:cNvSpPr/>
          <p:nvPr/>
        </p:nvSpPr>
        <p:spPr>
          <a:xfrm rot="0" flipH="1" flipV="0">
            <a:off x="11127951" y="2128729"/>
            <a:ext cx="4947497" cy="5163422"/>
          </a:xfrm>
          <a:custGeom>
            <a:avLst/>
            <a:ahLst/>
            <a:rect l="l" t="t" r="r" b="b"/>
            <a:pathLst>
              <a:path w="4947497" h="5163422">
                <a:moveTo>
                  <a:pt x="4947498" y="0"/>
                </a:moveTo>
                <a:lnTo>
                  <a:pt x="0" y="0"/>
                </a:lnTo>
                <a:lnTo>
                  <a:pt x="0" y="5163422"/>
                </a:lnTo>
                <a:lnTo>
                  <a:pt x="4947498" y="5163422"/>
                </a:lnTo>
                <a:lnTo>
                  <a:pt x="4947498" y="0"/>
                </a:lnTo>
                <a:close/>
              </a:path>
            </a:pathLst>
          </a:custGeom>
          <a:blipFill>
            <a:blip xmlns:r="http://schemas.openxmlformats.org/officeDocument/2006/relationships" r:embed="rId4"/>
            <a:stretch>
              <a:fillRect l="0" t="0" r="0" b="0"/>
            </a:stretch>
          </a:blipFill>
        </p:spPr>
      </p:sp>
      <p:sp>
        <p:nvSpPr>
          <p:cNvPr id="1048701" name="Freeform 20"/>
          <p:cNvSpPr/>
          <p:nvPr/>
        </p:nvSpPr>
        <p:spPr>
          <a:xfrm rot="0" flipH="0" flipV="0">
            <a:off x="15173133" y="2348741"/>
            <a:ext cx="1337844" cy="2061104"/>
          </a:xfrm>
          <a:custGeom>
            <a:avLst/>
            <a:ahLst/>
            <a:rect l="l" t="t" r="r" b="b"/>
            <a:pathLst>
              <a:path w="1337844" h="2061104">
                <a:moveTo>
                  <a:pt x="0" y="0"/>
                </a:moveTo>
                <a:lnTo>
                  <a:pt x="1337844" y="0"/>
                </a:lnTo>
                <a:lnTo>
                  <a:pt x="1337844" y="2061104"/>
                </a:lnTo>
                <a:lnTo>
                  <a:pt x="0" y="2061104"/>
                </a:lnTo>
                <a:lnTo>
                  <a:pt x="0" y="0"/>
                </a:lnTo>
                <a:close/>
              </a:path>
            </a:pathLst>
          </a:custGeom>
          <a:blipFill>
            <a:blip xmlns:r="http://schemas.openxmlformats.org/officeDocument/2006/relationships" r:embed="rId5"/>
            <a:stretch>
              <a:fillRect l="0" t="0" r="0" b="0"/>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47" name=""/>
        <p:cNvGrpSpPr/>
        <p:nvPr/>
      </p:nvGrpSpPr>
      <p:grpSpPr>
        <a:xfrm>
          <a:off x="0" y="0"/>
          <a:ext cx="0" cy="0"/>
          <a:chOff x="0" y="0"/>
          <a:chExt cx="0" cy="0"/>
        </a:xfrm>
      </p:grpSpPr>
      <p:grpSp>
        <p:nvGrpSpPr>
          <p:cNvPr id="48" name="Group 2"/>
          <p:cNvGrpSpPr/>
          <p:nvPr/>
        </p:nvGrpSpPr>
        <p:grpSpPr>
          <a:xfrm rot="0">
            <a:off x="560181" y="580551"/>
            <a:ext cx="17167638" cy="9125897"/>
            <a:chOff x="0" y="0"/>
            <a:chExt cx="4521518" cy="2403529"/>
          </a:xfrm>
        </p:grpSpPr>
        <p:sp>
          <p:nvSpPr>
            <p:cNvPr id="1048702"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703"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704"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705"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706"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707"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708"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49" name="Group 10"/>
          <p:cNvGrpSpPr/>
          <p:nvPr/>
        </p:nvGrpSpPr>
        <p:grpSpPr>
          <a:xfrm rot="0">
            <a:off x="1485978" y="8180971"/>
            <a:ext cx="1796555" cy="1077329"/>
            <a:chOff x="0" y="0"/>
            <a:chExt cx="6349746" cy="3807714"/>
          </a:xfrm>
        </p:grpSpPr>
        <p:sp>
          <p:nvSpPr>
            <p:cNvPr id="1048709"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710"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711"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712" name="TextBox 14"/>
          <p:cNvSpPr txBox="1"/>
          <p:nvPr/>
        </p:nvSpPr>
        <p:spPr>
          <a:xfrm rot="0">
            <a:off x="1028700" y="1993434"/>
            <a:ext cx="8462885" cy="1598762"/>
          </a:xfrm>
          <a:prstGeom prst="rect"/>
        </p:spPr>
        <p:txBody>
          <a:bodyPr anchor="t" bIns="0" lIns="0" rIns="0" rtlCol="0" tIns="0">
            <a:spAutoFit/>
          </a:bodyPr>
          <a:p>
            <a:pPr algn="l">
              <a:lnSpc>
                <a:spcPts val="13076"/>
              </a:lnSpc>
            </a:pPr>
            <a:r>
              <a:rPr sz="9340" lang="en-US" spc="392">
                <a:solidFill>
                  <a:srgbClr val="4C4A4A"/>
                </a:solidFill>
                <a:latin typeface="RQND Pro Medium"/>
                <a:ea typeface="RQND Pro Medium"/>
                <a:cs typeface="RQND Pro Medium"/>
                <a:sym typeface="RQND Pro Medium"/>
              </a:rPr>
              <a:t>OBjetivos</a:t>
            </a:r>
          </a:p>
        </p:txBody>
      </p:sp>
      <p:sp>
        <p:nvSpPr>
          <p:cNvPr id="1048713" name="TextBox 15"/>
          <p:cNvSpPr txBox="1"/>
          <p:nvPr/>
        </p:nvSpPr>
        <p:spPr>
          <a:xfrm rot="0">
            <a:off x="1042523" y="865359"/>
            <a:ext cx="5187700" cy="344805"/>
          </a:xfrm>
          <a:prstGeom prst="rect"/>
        </p:spPr>
        <p:txBody>
          <a:bodyPr anchor="t" bIns="0" lIns="0" rIns="0" rtlCol="0" tIns="0">
            <a:spAutoFit/>
          </a:bodyPr>
          <a:p>
            <a:pPr algn="l">
              <a:lnSpc>
                <a:spcPts val="2520"/>
              </a:lnSpc>
            </a:pPr>
            <a:r>
              <a:rPr b="1" sz="1800" lang="en-US">
                <a:solidFill>
                  <a:srgbClr val="4C4A4A"/>
                </a:solidFill>
                <a:latin typeface="Arian Bold"/>
                <a:ea typeface="Arian Bold"/>
                <a:cs typeface="Arian Bold"/>
                <a:sym typeface="Arian Bold"/>
              </a:rPr>
              <a:t>UNIVERSIDAD NACIONAL DEL CALLAO</a:t>
            </a:r>
          </a:p>
        </p:txBody>
      </p:sp>
      <p:sp>
        <p:nvSpPr>
          <p:cNvPr id="1048714" name="TextBox 16"/>
          <p:cNvSpPr txBox="1"/>
          <p:nvPr/>
        </p:nvSpPr>
        <p:spPr>
          <a:xfrm rot="0">
            <a:off x="10540503" y="8500878"/>
            <a:ext cx="5438391"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INTRODUCCION A LA ING. DE SISTEMAS</a:t>
            </a:r>
          </a:p>
        </p:txBody>
      </p:sp>
      <p:sp>
        <p:nvSpPr>
          <p:cNvPr id="1048715" name="TextBox 17"/>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PRESENTATION</a:t>
            </a:r>
          </a:p>
        </p:txBody>
      </p:sp>
      <p:sp>
        <p:nvSpPr>
          <p:cNvPr id="1048716" name="Freeform 18"/>
          <p:cNvSpPr/>
          <p:nvPr/>
        </p:nvSpPr>
        <p:spPr>
          <a:xfrm rot="0" flipH="0" flipV="0">
            <a:off x="10879103" y="2226639"/>
            <a:ext cx="3639898" cy="4967603"/>
          </a:xfrm>
          <a:custGeom>
            <a:avLst/>
            <a:ahLst/>
            <a:rect l="l" t="t" r="r" b="b"/>
            <a:pathLst>
              <a:path w="3639898" h="4967603">
                <a:moveTo>
                  <a:pt x="0" y="0"/>
                </a:moveTo>
                <a:lnTo>
                  <a:pt x="3639898" y="0"/>
                </a:lnTo>
                <a:lnTo>
                  <a:pt x="3639898" y="4967603"/>
                </a:lnTo>
                <a:lnTo>
                  <a:pt x="0" y="4967603"/>
                </a:lnTo>
                <a:lnTo>
                  <a:pt x="0" y="0"/>
                </a:lnTo>
                <a:close/>
              </a:path>
            </a:pathLst>
          </a:custGeom>
          <a:blipFill>
            <a:blip xmlns:r="http://schemas.openxmlformats.org/officeDocument/2006/relationships" r:embed="rId4"/>
            <a:stretch>
              <a:fillRect l="0" t="0" r="0" b="0"/>
            </a:stretch>
          </a:blipFill>
        </p:spPr>
      </p:sp>
      <p:sp>
        <p:nvSpPr>
          <p:cNvPr id="1048717" name="Freeform 19"/>
          <p:cNvSpPr/>
          <p:nvPr/>
        </p:nvSpPr>
        <p:spPr>
          <a:xfrm rot="0" flipH="0" flipV="0">
            <a:off x="14519001" y="5143500"/>
            <a:ext cx="2919785" cy="1794451"/>
          </a:xfrm>
          <a:custGeom>
            <a:avLst/>
            <a:ahLst/>
            <a:rect l="l" t="t" r="r" b="b"/>
            <a:pathLst>
              <a:path w="2919785" h="1794451">
                <a:moveTo>
                  <a:pt x="0" y="0"/>
                </a:moveTo>
                <a:lnTo>
                  <a:pt x="2919786" y="0"/>
                </a:lnTo>
                <a:lnTo>
                  <a:pt x="2919786" y="1794451"/>
                </a:lnTo>
                <a:lnTo>
                  <a:pt x="0" y="1794451"/>
                </a:lnTo>
                <a:lnTo>
                  <a:pt x="0" y="0"/>
                </a:lnTo>
                <a:close/>
              </a:path>
            </a:pathLst>
          </a:custGeom>
          <a:blipFill>
            <a:blip xmlns:r="http://schemas.openxmlformats.org/officeDocument/2006/relationships" r:embed="rId5"/>
            <a:stretch>
              <a:fillRect l="0" t="0" r="0" b="0"/>
            </a:stretch>
          </a:blipFill>
        </p:spPr>
      </p:sp>
      <p:sp>
        <p:nvSpPr>
          <p:cNvPr id="1048718" name="TextBox 20"/>
          <p:cNvSpPr txBox="1"/>
          <p:nvPr/>
        </p:nvSpPr>
        <p:spPr>
          <a:xfrm rot="0">
            <a:off x="1042523" y="3629035"/>
            <a:ext cx="7212985" cy="3514725"/>
          </a:xfrm>
          <a:prstGeom prst="rect"/>
        </p:spPr>
        <p:txBody>
          <a:bodyPr anchor="t" bIns="0" lIns="0" rIns="0" rtlCol="0" tIns="0">
            <a:spAutoFit/>
          </a:bodyPr>
          <a:p>
            <a:pPr algn="l">
              <a:lnSpc>
                <a:spcPts val="4199"/>
              </a:lnSpc>
            </a:pPr>
            <a:r>
              <a:rPr sz="2999" lang="en-US" spc="125">
                <a:solidFill>
                  <a:srgbClr val="4C4A4A"/>
                </a:solidFill>
                <a:latin typeface="RQND Pro"/>
                <a:ea typeface="RQND Pro"/>
                <a:cs typeface="RQND Pro"/>
                <a:sym typeface="RQND Pro"/>
              </a:rPr>
              <a:t>Objetivo General:</a:t>
            </a:r>
          </a:p>
          <a:p>
            <a:pPr algn="l" indent="-237491" lvl="1" marL="474981">
              <a:lnSpc>
                <a:spcPts val="3080"/>
              </a:lnSpc>
              <a:buFont typeface="Arial"/>
              <a:buChar char="•"/>
            </a:pPr>
            <a:r>
              <a:rPr sz="2200" lang="en-US" spc="92">
                <a:solidFill>
                  <a:srgbClr val="4C4A4A"/>
                </a:solidFill>
                <a:latin typeface="TT Commons Pro"/>
                <a:ea typeface="TT Commons Pro"/>
                <a:cs typeface="TT Commons Pro"/>
                <a:sym typeface="TT Commons Pro"/>
              </a:rPr>
              <a:t>Analizar sistemas duros y blandos en una organización</a:t>
            </a:r>
          </a:p>
          <a:p>
            <a:pPr algn="l">
              <a:lnSpc>
                <a:spcPts val="4199"/>
              </a:lnSpc>
            </a:pPr>
            <a:r>
              <a:rPr sz="2999" lang="en-US" spc="125">
                <a:solidFill>
                  <a:srgbClr val="4C4A4A"/>
                </a:solidFill>
                <a:latin typeface="RQND Pro"/>
                <a:ea typeface="RQND Pro"/>
                <a:cs typeface="RQND Pro"/>
                <a:sym typeface="RQND Pro"/>
              </a:rPr>
              <a:t>Objetivo Especifico:</a:t>
            </a:r>
          </a:p>
          <a:p>
            <a:pPr algn="l" indent="-237491" lvl="1" marL="474981">
              <a:lnSpc>
                <a:spcPts val="3080"/>
              </a:lnSpc>
              <a:buFont typeface="Arial"/>
              <a:buChar char="•"/>
            </a:pPr>
            <a:r>
              <a:rPr sz="2200" lang="en-US" spc="92">
                <a:solidFill>
                  <a:srgbClr val="4C4A4A"/>
                </a:solidFill>
                <a:latin typeface="TT Commons Pro"/>
                <a:ea typeface="TT Commons Pro"/>
                <a:cs typeface="TT Commons Pro"/>
                <a:sym typeface="TT Commons Pro"/>
              </a:rPr>
              <a:t>Identificar características de cada enfoque</a:t>
            </a:r>
          </a:p>
          <a:p>
            <a:pPr algn="l" indent="-237491" lvl="1" marL="474981">
              <a:lnSpc>
                <a:spcPts val="3080"/>
              </a:lnSpc>
              <a:buFont typeface="Arial"/>
              <a:buChar char="•"/>
            </a:pPr>
            <a:r>
              <a:rPr sz="2200" lang="en-US" spc="92">
                <a:solidFill>
                  <a:srgbClr val="4C4A4A"/>
                </a:solidFill>
                <a:latin typeface="TT Commons Pro"/>
                <a:ea typeface="TT Commons Pro"/>
                <a:cs typeface="TT Commons Pro"/>
                <a:sym typeface="TT Commons Pro"/>
              </a:rPr>
              <a:t>Compararlos</a:t>
            </a:r>
          </a:p>
          <a:p>
            <a:pPr algn="l" indent="-237491" lvl="1" marL="474981">
              <a:lnSpc>
                <a:spcPts val="3080"/>
              </a:lnSpc>
              <a:buFont typeface="Arial"/>
              <a:buChar char="•"/>
            </a:pPr>
            <a:r>
              <a:rPr sz="2200" lang="en-US" spc="92">
                <a:solidFill>
                  <a:srgbClr val="4C4A4A"/>
                </a:solidFill>
                <a:latin typeface="TT Commons Pro"/>
                <a:ea typeface="TT Commons Pro"/>
                <a:cs typeface="TT Commons Pro"/>
                <a:sym typeface="TT Commons Pro"/>
              </a:rPr>
              <a:t>Aplicarlos a un caso real (gestión de tesis)</a:t>
            </a:r>
          </a:p>
          <a:p>
            <a:pPr algn="l">
              <a:lnSpc>
                <a:spcPts val="4199"/>
              </a:lnSpc>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50" name=""/>
        <p:cNvGrpSpPr/>
        <p:nvPr/>
      </p:nvGrpSpPr>
      <p:grpSpPr>
        <a:xfrm>
          <a:off x="0" y="0"/>
          <a:ext cx="0" cy="0"/>
          <a:chOff x="0" y="0"/>
          <a:chExt cx="0" cy="0"/>
        </a:xfrm>
      </p:grpSpPr>
      <p:grpSp>
        <p:nvGrpSpPr>
          <p:cNvPr id="51" name="Group 2"/>
          <p:cNvGrpSpPr/>
          <p:nvPr/>
        </p:nvGrpSpPr>
        <p:grpSpPr>
          <a:xfrm rot="0">
            <a:off x="560181" y="580551"/>
            <a:ext cx="17167638" cy="9125897"/>
            <a:chOff x="0" y="0"/>
            <a:chExt cx="4521518" cy="2403529"/>
          </a:xfrm>
        </p:grpSpPr>
        <p:sp>
          <p:nvSpPr>
            <p:cNvPr id="1048719"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720"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721"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722"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723"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724"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725"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sp>
        <p:nvSpPr>
          <p:cNvPr id="1048726" name="TextBox 10"/>
          <p:cNvSpPr txBox="1"/>
          <p:nvPr/>
        </p:nvSpPr>
        <p:spPr>
          <a:xfrm rot="0">
            <a:off x="1386504" y="2312158"/>
            <a:ext cx="8462885" cy="1660652"/>
          </a:xfrm>
          <a:prstGeom prst="rect"/>
        </p:spPr>
        <p:txBody>
          <a:bodyPr anchor="t" bIns="0" lIns="0" rIns="0" rtlCol="0" tIns="0">
            <a:spAutoFit/>
          </a:bodyPr>
          <a:p>
            <a:pPr algn="l">
              <a:lnSpc>
                <a:spcPts val="13076"/>
              </a:lnSpc>
            </a:pPr>
            <a:r>
              <a:rPr sz="9340" lang="en-US" spc="392">
                <a:solidFill>
                  <a:srgbClr val="4C4A4A"/>
                </a:solidFill>
                <a:latin typeface="RQND Pro Medium"/>
                <a:ea typeface="RQND Pro Medium"/>
                <a:cs typeface="RQND Pro Medium"/>
                <a:sym typeface="RQND Pro Medium"/>
              </a:rPr>
              <a:t>Teorico</a:t>
            </a:r>
          </a:p>
        </p:txBody>
      </p:sp>
      <p:sp>
        <p:nvSpPr>
          <p:cNvPr id="1048727" name="TextBox 11"/>
          <p:cNvSpPr txBox="1"/>
          <p:nvPr/>
        </p:nvSpPr>
        <p:spPr>
          <a:xfrm rot="0">
            <a:off x="937530" y="848849"/>
            <a:ext cx="6002960"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UNIVERSIDAD NACIONAL DEL CALLAO</a:t>
            </a:r>
          </a:p>
        </p:txBody>
      </p:sp>
      <p:sp>
        <p:nvSpPr>
          <p:cNvPr id="1048728" name="TextBox 12"/>
          <p:cNvSpPr txBox="1"/>
          <p:nvPr/>
        </p:nvSpPr>
        <p:spPr>
          <a:xfrm rot="0">
            <a:off x="10559826" y="8509133"/>
            <a:ext cx="5112287" cy="344805"/>
          </a:xfrm>
          <a:prstGeom prst="rect"/>
        </p:spPr>
        <p:txBody>
          <a:bodyPr anchor="t" bIns="0" lIns="0" rIns="0" rtlCol="0" tIns="0">
            <a:spAutoFit/>
          </a:bodyPr>
          <a:p>
            <a:pPr algn="l">
              <a:lnSpc>
                <a:spcPts val="2520"/>
              </a:lnSpc>
            </a:pPr>
            <a:r>
              <a:rPr b="1" sz="1800" lang="en-US">
                <a:solidFill>
                  <a:srgbClr val="4C4A4A"/>
                </a:solidFill>
                <a:latin typeface="Arian Bold"/>
                <a:ea typeface="Arian Bold"/>
                <a:cs typeface="Arian Bold"/>
                <a:sym typeface="Arian Bold"/>
              </a:rPr>
              <a:t>INTRODUCCION A LA ING. DE SISTEMAS</a:t>
            </a:r>
          </a:p>
        </p:txBody>
      </p:sp>
      <p:sp>
        <p:nvSpPr>
          <p:cNvPr id="1048729" name="TextBox 13"/>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PRESENTACION</a:t>
            </a:r>
          </a:p>
        </p:txBody>
      </p:sp>
      <p:sp>
        <p:nvSpPr>
          <p:cNvPr id="1048730" name="TextBox 14"/>
          <p:cNvSpPr txBox="1"/>
          <p:nvPr/>
        </p:nvSpPr>
        <p:spPr>
          <a:xfrm rot="0">
            <a:off x="1485978" y="3985046"/>
            <a:ext cx="7212985" cy="3412743"/>
          </a:xfrm>
          <a:prstGeom prst="rect"/>
        </p:spPr>
        <p:txBody>
          <a:bodyPr anchor="t" bIns="0" lIns="0" rIns="0" rtlCol="0" tIns="0">
            <a:spAutoFit/>
          </a:bodyPr>
          <a:p>
            <a:pPr algn="l">
              <a:lnSpc>
                <a:spcPts val="3359"/>
              </a:lnSpc>
            </a:pPr>
            <a:r>
              <a:rPr sz="2400" lang="en-US">
                <a:solidFill>
                  <a:srgbClr val="4C4A4A"/>
                </a:solidFill>
                <a:latin typeface="TT Commons Pro"/>
                <a:ea typeface="TT Commons Pro"/>
                <a:cs typeface="TT Commons Pro"/>
                <a:sym typeface="TT Commons Pro"/>
              </a:rPr>
              <a:t>Enfoque que analiza el que un sistema son como conjuntos de elementos interrelacionados</a:t>
            </a:r>
          </a:p>
          <a:p>
            <a:pPr algn="l">
              <a:lnSpc>
                <a:spcPts val="3359"/>
              </a:lnSpc>
            </a:pPr>
            <a:r>
              <a:rPr sz="2400" lang="en-US">
                <a:solidFill>
                  <a:srgbClr val="4C4A4A"/>
                </a:solidFill>
                <a:latin typeface="TT Commons Pro"/>
                <a:ea typeface="TT Commons Pro"/>
                <a:cs typeface="TT Commons Pro"/>
                <a:sym typeface="TT Commons Pro"/>
              </a:rPr>
              <a:t>       Tipos de elementos:</a:t>
            </a:r>
          </a:p>
          <a:p>
            <a:pPr algn="l">
              <a:lnSpc>
                <a:spcPts val="3359"/>
              </a:lnSpc>
            </a:pPr>
            <a:r>
              <a:rPr sz="2400" lang="en-US">
                <a:solidFill>
                  <a:srgbClr val="4C4A4A"/>
                </a:solidFill>
                <a:latin typeface="TT Commons Pro"/>
                <a:ea typeface="TT Commons Pro"/>
                <a:cs typeface="TT Commons Pro"/>
                <a:sym typeface="TT Commons Pro"/>
              </a:rPr>
              <a:t>       Entrada</a:t>
            </a:r>
          </a:p>
          <a:p>
            <a:pPr algn="l">
              <a:lnSpc>
                <a:spcPts val="3359"/>
              </a:lnSpc>
            </a:pPr>
            <a:r>
              <a:rPr sz="2400" lang="en-US">
                <a:solidFill>
                  <a:srgbClr val="4C4A4A"/>
                </a:solidFill>
                <a:latin typeface="TT Commons Pro"/>
                <a:ea typeface="TT Commons Pro"/>
                <a:cs typeface="TT Commons Pro"/>
                <a:sym typeface="TT Commons Pro"/>
              </a:rPr>
              <a:t>       Proceso</a:t>
            </a:r>
          </a:p>
          <a:p>
            <a:pPr algn="l">
              <a:lnSpc>
                <a:spcPts val="3359"/>
              </a:lnSpc>
            </a:pPr>
            <a:r>
              <a:rPr sz="2400" lang="en-US">
                <a:solidFill>
                  <a:srgbClr val="4C4A4A"/>
                </a:solidFill>
                <a:latin typeface="TT Commons Pro"/>
                <a:ea typeface="TT Commons Pro"/>
                <a:cs typeface="TT Commons Pro"/>
                <a:sym typeface="TT Commons Pro"/>
              </a:rPr>
              <a:t>       Salida</a:t>
            </a:r>
          </a:p>
          <a:p>
            <a:pPr algn="l">
              <a:lnSpc>
                <a:spcPts val="3359"/>
              </a:lnSpc>
            </a:pPr>
            <a:r>
              <a:rPr sz="2400" lang="en-US">
                <a:solidFill>
                  <a:srgbClr val="4C4A4A"/>
                </a:solidFill>
                <a:latin typeface="TT Commons Pro"/>
                <a:ea typeface="TT Commons Pro"/>
                <a:cs typeface="TT Commons Pro"/>
                <a:sym typeface="TT Commons Pro"/>
              </a:rPr>
              <a:t>       Retroalimentación</a:t>
            </a:r>
          </a:p>
          <a:p>
            <a:pPr algn="l">
              <a:lnSpc>
                <a:spcPts val="3359"/>
              </a:lnSpc>
            </a:pPr>
            <a:r>
              <a:rPr sz="2400" lang="en-US">
                <a:solidFill>
                  <a:srgbClr val="4C4A4A"/>
                </a:solidFill>
                <a:latin typeface="TT Commons Pro"/>
                <a:ea typeface="TT Commons Pro"/>
                <a:cs typeface="TT Commons Pro"/>
                <a:sym typeface="TT Commons Pro"/>
              </a:rPr>
              <a:t>Las organizaciones son sistemas abiertos</a:t>
            </a:r>
          </a:p>
        </p:txBody>
      </p:sp>
      <p:sp>
        <p:nvSpPr>
          <p:cNvPr id="1048731" name="TextBox 15"/>
          <p:cNvSpPr txBox="1"/>
          <p:nvPr/>
        </p:nvSpPr>
        <p:spPr>
          <a:xfrm rot="0">
            <a:off x="1386504" y="1824209"/>
            <a:ext cx="6630561" cy="1236345"/>
          </a:xfrm>
          <a:prstGeom prst="rect"/>
        </p:spPr>
        <p:txBody>
          <a:bodyPr anchor="t" bIns="0" lIns="0" rIns="0" rtlCol="0" tIns="0">
            <a:spAutoFit/>
          </a:bodyPr>
          <a:p>
            <a:pPr algn="l">
              <a:lnSpc>
                <a:spcPts val="9735"/>
              </a:lnSpc>
            </a:pPr>
            <a:r>
              <a:rPr sz="6953" lang="en-US" spc="292">
                <a:solidFill>
                  <a:srgbClr val="4C4A4A"/>
                </a:solidFill>
                <a:latin typeface="RQND Pro Condensed"/>
                <a:ea typeface="RQND Pro Condensed"/>
                <a:cs typeface="RQND Pro Condensed"/>
                <a:sym typeface="RQND Pro Condensed"/>
              </a:rPr>
              <a:t>Marco</a:t>
            </a:r>
          </a:p>
        </p:txBody>
      </p:sp>
      <p:sp>
        <p:nvSpPr>
          <p:cNvPr id="1048732" name="TextBox 16"/>
          <p:cNvSpPr txBox="1"/>
          <p:nvPr/>
        </p:nvSpPr>
        <p:spPr>
          <a:xfrm rot="0">
            <a:off x="1386504" y="8196746"/>
            <a:ext cx="5836799" cy="782067"/>
          </a:xfrm>
          <a:prstGeom prst="rect"/>
        </p:spPr>
        <p:txBody>
          <a:bodyPr anchor="t" bIns="0" lIns="0" rIns="0" rtlCol="0" tIns="0">
            <a:spAutoFit/>
          </a:bodyPr>
          <a:p>
            <a:pPr algn="l">
              <a:lnSpc>
                <a:spcPts val="3079"/>
              </a:lnSpc>
            </a:pPr>
            <a:r>
              <a:rPr b="1" sz="2199" lang="en-US">
                <a:solidFill>
                  <a:srgbClr val="4C4A4A"/>
                </a:solidFill>
                <a:latin typeface="Arian Bold"/>
                <a:ea typeface="Arian Bold"/>
                <a:cs typeface="Arian Bold"/>
                <a:sym typeface="Arian Bold"/>
              </a:rPr>
              <a:t>PERMITE COMPRENDER Y MEJORAR SISTEMAS DESDE UNA VISIÓN INTEGRAL</a:t>
            </a:r>
          </a:p>
        </p:txBody>
      </p:sp>
      <p:sp>
        <p:nvSpPr>
          <p:cNvPr id="1048733" name="Freeform 17"/>
          <p:cNvSpPr/>
          <p:nvPr/>
        </p:nvSpPr>
        <p:spPr>
          <a:xfrm rot="0" flipH="0" flipV="0">
            <a:off x="12768141" y="2312264"/>
            <a:ext cx="4218242" cy="4978612"/>
          </a:xfrm>
          <a:custGeom>
            <a:avLst/>
            <a:ahLst/>
            <a:rect l="l" t="t" r="r" b="b"/>
            <a:pathLst>
              <a:path w="4218242" h="4978612">
                <a:moveTo>
                  <a:pt x="0" y="0"/>
                </a:moveTo>
                <a:lnTo>
                  <a:pt x="4218242" y="0"/>
                </a:lnTo>
                <a:lnTo>
                  <a:pt x="4218242" y="4978613"/>
                </a:lnTo>
                <a:lnTo>
                  <a:pt x="0" y="4978613"/>
                </a:lnTo>
                <a:lnTo>
                  <a:pt x="0" y="0"/>
                </a:lnTo>
                <a:close/>
              </a:path>
            </a:pathLst>
          </a:custGeom>
          <a:blipFill>
            <a:blip xmlns:r="http://schemas.openxmlformats.org/officeDocument/2006/relationships" r:embed="rId3"/>
            <a:stretch>
              <a:fillRect l="0" t="0" r="0" b="0"/>
            </a:stretch>
          </a:blipFill>
        </p:spPr>
      </p:sp>
      <p:sp>
        <p:nvSpPr>
          <p:cNvPr id="1048734" name="Freeform 18"/>
          <p:cNvSpPr/>
          <p:nvPr/>
        </p:nvSpPr>
        <p:spPr>
          <a:xfrm rot="0" flipH="0" flipV="0">
            <a:off x="10559826" y="2412580"/>
            <a:ext cx="3041874" cy="1902554"/>
          </a:xfrm>
          <a:custGeom>
            <a:avLst/>
            <a:ahLst/>
            <a:rect l="l" t="t" r="r" b="b"/>
            <a:pathLst>
              <a:path w="3041874" h="1902554">
                <a:moveTo>
                  <a:pt x="0" y="0"/>
                </a:moveTo>
                <a:lnTo>
                  <a:pt x="3041874" y="0"/>
                </a:lnTo>
                <a:lnTo>
                  <a:pt x="3041874" y="1902554"/>
                </a:lnTo>
                <a:lnTo>
                  <a:pt x="0" y="1902554"/>
                </a:lnTo>
                <a:lnTo>
                  <a:pt x="0" y="0"/>
                </a:lnTo>
                <a:close/>
              </a:path>
            </a:pathLst>
          </a:custGeom>
          <a:blipFill>
            <a:blip xmlns:r="http://schemas.openxmlformats.org/officeDocument/2006/relationships" r:embed="rId4"/>
            <a:stretch>
              <a:fillRect l="0" t="0" r="0" b="0"/>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52" name=""/>
        <p:cNvGrpSpPr/>
        <p:nvPr/>
      </p:nvGrpSpPr>
      <p:grpSpPr>
        <a:xfrm>
          <a:off x="0" y="0"/>
          <a:ext cx="0" cy="0"/>
          <a:chOff x="0" y="0"/>
          <a:chExt cx="0" cy="0"/>
        </a:xfrm>
      </p:grpSpPr>
      <p:grpSp>
        <p:nvGrpSpPr>
          <p:cNvPr id="53" name="Group 2"/>
          <p:cNvGrpSpPr/>
          <p:nvPr/>
        </p:nvGrpSpPr>
        <p:grpSpPr>
          <a:xfrm rot="0">
            <a:off x="560181" y="580551"/>
            <a:ext cx="17167638" cy="9125897"/>
            <a:chOff x="0" y="0"/>
            <a:chExt cx="4521518" cy="2403529"/>
          </a:xfrm>
        </p:grpSpPr>
        <p:sp>
          <p:nvSpPr>
            <p:cNvPr id="1048735"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736"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737"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738"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739"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740"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741"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sp>
        <p:nvSpPr>
          <p:cNvPr id="1048742" name="TextBox 10"/>
          <p:cNvSpPr txBox="1"/>
          <p:nvPr/>
        </p:nvSpPr>
        <p:spPr>
          <a:xfrm rot="0">
            <a:off x="1386504" y="2494028"/>
            <a:ext cx="8462885" cy="1660651"/>
          </a:xfrm>
          <a:prstGeom prst="rect"/>
        </p:spPr>
        <p:txBody>
          <a:bodyPr anchor="t" bIns="0" lIns="0" rIns="0" rtlCol="0" tIns="0">
            <a:spAutoFit/>
          </a:bodyPr>
          <a:p>
            <a:pPr algn="l">
              <a:lnSpc>
                <a:spcPts val="13076"/>
              </a:lnSpc>
            </a:pPr>
            <a:r>
              <a:rPr sz="9340" lang="en-US" spc="392">
                <a:solidFill>
                  <a:srgbClr val="4C4A4A"/>
                </a:solidFill>
                <a:latin typeface="RQND Pro Medium"/>
                <a:ea typeface="RQND Pro Medium"/>
                <a:cs typeface="RQND Pro Medium"/>
                <a:sym typeface="RQND Pro Medium"/>
              </a:rPr>
              <a:t>Duros</a:t>
            </a:r>
          </a:p>
        </p:txBody>
      </p:sp>
      <p:sp>
        <p:nvSpPr>
          <p:cNvPr id="1048743" name="TextBox 11"/>
          <p:cNvSpPr txBox="1"/>
          <p:nvPr/>
        </p:nvSpPr>
        <p:spPr>
          <a:xfrm rot="0">
            <a:off x="838132" y="855834"/>
            <a:ext cx="5943668" cy="355600"/>
          </a:xfrm>
          <a:prstGeom prst="rect"/>
        </p:spPr>
        <p:txBody>
          <a:bodyPr anchor="t" bIns="0" lIns="0" rIns="0" rtlCol="0" tIns="0">
            <a:spAutoFit/>
          </a:bodyPr>
          <a:p>
            <a:pPr algn="l">
              <a:lnSpc>
                <a:spcPts val="2800"/>
              </a:lnSpc>
            </a:pPr>
            <a:r>
              <a:rPr b="1" sz="2000" lang="en-US">
                <a:solidFill>
                  <a:srgbClr val="4C4A4A"/>
                </a:solidFill>
                <a:latin typeface="Arian Bold"/>
                <a:ea typeface="Arian Bold"/>
                <a:cs typeface="Arian Bold"/>
                <a:sym typeface="Arian Bold"/>
              </a:rPr>
              <a:t>UNIVERSIDAD NACIONAL DEL CALLAO</a:t>
            </a:r>
          </a:p>
        </p:txBody>
      </p:sp>
      <p:sp>
        <p:nvSpPr>
          <p:cNvPr id="1048744" name="TextBox 12"/>
          <p:cNvSpPr txBox="1"/>
          <p:nvPr/>
        </p:nvSpPr>
        <p:spPr>
          <a:xfrm rot="0">
            <a:off x="10729768" y="8476113"/>
            <a:ext cx="5112287" cy="344805"/>
          </a:xfrm>
          <a:prstGeom prst="rect"/>
        </p:spPr>
        <p:txBody>
          <a:bodyPr anchor="t" bIns="0" lIns="0" rIns="0" rtlCol="0" tIns="0">
            <a:spAutoFit/>
          </a:bodyPr>
          <a:p>
            <a:pPr algn="l">
              <a:lnSpc>
                <a:spcPts val="2520"/>
              </a:lnSpc>
            </a:pPr>
            <a:r>
              <a:rPr b="1" sz="1800" lang="en-US">
                <a:solidFill>
                  <a:srgbClr val="4C4A4A"/>
                </a:solidFill>
                <a:latin typeface="Arian Bold"/>
                <a:ea typeface="Arian Bold"/>
                <a:cs typeface="Arian Bold"/>
                <a:sym typeface="Arian Bold"/>
              </a:rPr>
              <a:t>INTRODUCCION A LA ING. DE SISTEMAS</a:t>
            </a:r>
          </a:p>
        </p:txBody>
      </p:sp>
      <p:sp>
        <p:nvSpPr>
          <p:cNvPr id="1048745" name="TextBox 13"/>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PRESENTATION</a:t>
            </a:r>
          </a:p>
        </p:txBody>
      </p:sp>
      <p:sp>
        <p:nvSpPr>
          <p:cNvPr id="1048746" name="TextBox 14"/>
          <p:cNvSpPr txBox="1"/>
          <p:nvPr/>
        </p:nvSpPr>
        <p:spPr>
          <a:xfrm rot="0">
            <a:off x="1386504" y="4245050"/>
            <a:ext cx="7212985" cy="3520440"/>
          </a:xfrm>
          <a:prstGeom prst="rect"/>
        </p:spPr>
        <p:txBody>
          <a:bodyPr anchor="t" bIns="0" lIns="0" rIns="0" rtlCol="0" tIns="0">
            <a:spAutoFit/>
          </a:bodyPr>
          <a:p>
            <a:pPr algn="l">
              <a:lnSpc>
                <a:spcPts val="3080"/>
              </a:lnSpc>
            </a:pPr>
            <a:r>
              <a:rPr sz="2200" lang="en-US">
                <a:solidFill>
                  <a:srgbClr val="4C4A4A"/>
                </a:solidFill>
                <a:latin typeface="TT Commons Pro"/>
                <a:ea typeface="TT Commons Pro"/>
                <a:cs typeface="TT Commons Pro"/>
                <a:sym typeface="TT Commons Pro"/>
              </a:rPr>
              <a:t>Su enfoque es mas hacia problemas claros y estructurados</a:t>
            </a:r>
          </a:p>
          <a:p>
            <a:pPr algn="l">
              <a:lnSpc>
                <a:spcPts val="3080"/>
              </a:lnSpc>
            </a:pPr>
            <a:r>
              <a:rPr sz="2200" lang="en-US">
                <a:solidFill>
                  <a:srgbClr val="4C4A4A"/>
                </a:solidFill>
                <a:latin typeface="TT Commons Pro"/>
                <a:ea typeface="TT Commons Pro"/>
                <a:cs typeface="TT Commons Pro"/>
                <a:sym typeface="TT Commons Pro"/>
              </a:rPr>
              <a:t>   Uso de:</a:t>
            </a:r>
          </a:p>
          <a:p>
            <a:pPr algn="l">
              <a:lnSpc>
                <a:spcPts val="3080"/>
              </a:lnSpc>
            </a:pPr>
            <a:r>
              <a:rPr sz="2200" lang="en-US">
                <a:solidFill>
                  <a:srgbClr val="4C4A4A"/>
                </a:solidFill>
                <a:latin typeface="TT Commons Pro"/>
                <a:ea typeface="TT Commons Pro"/>
                <a:cs typeface="TT Commons Pro"/>
                <a:sym typeface="TT Commons Pro"/>
              </a:rPr>
              <a:t>       Matemáticas</a:t>
            </a:r>
          </a:p>
          <a:p>
            <a:pPr algn="l">
              <a:lnSpc>
                <a:spcPts val="3080"/>
              </a:lnSpc>
            </a:pPr>
            <a:r>
              <a:rPr sz="2200" lang="en-US">
                <a:solidFill>
                  <a:srgbClr val="4C4A4A"/>
                </a:solidFill>
                <a:latin typeface="TT Commons Pro"/>
                <a:ea typeface="TT Commons Pro"/>
                <a:cs typeface="TT Commons Pro"/>
                <a:sym typeface="TT Commons Pro"/>
              </a:rPr>
              <a:t>       Datos cuantitativos</a:t>
            </a:r>
          </a:p>
          <a:p>
            <a:pPr algn="l">
              <a:lnSpc>
                <a:spcPts val="3080"/>
              </a:lnSpc>
            </a:pPr>
            <a:r>
              <a:rPr sz="2200" lang="en-US">
                <a:solidFill>
                  <a:srgbClr val="4C4A4A"/>
                </a:solidFill>
                <a:latin typeface="TT Commons Pro"/>
                <a:ea typeface="TT Commons Pro"/>
                <a:cs typeface="TT Commons Pro"/>
                <a:sym typeface="TT Commons Pro"/>
              </a:rPr>
              <a:t>   Buscan:</a:t>
            </a:r>
          </a:p>
          <a:p>
            <a:pPr algn="l">
              <a:lnSpc>
                <a:spcPts val="3080"/>
              </a:lnSpc>
            </a:pPr>
            <a:r>
              <a:rPr sz="2200" lang="en-US">
                <a:solidFill>
                  <a:srgbClr val="4C4A4A"/>
                </a:solidFill>
                <a:latin typeface="TT Commons Pro"/>
                <a:ea typeface="TT Commons Pro"/>
                <a:cs typeface="TT Commons Pro"/>
                <a:sym typeface="TT Commons Pro"/>
              </a:rPr>
              <a:t>       Optimización</a:t>
            </a:r>
          </a:p>
          <a:p>
            <a:pPr algn="l">
              <a:lnSpc>
                <a:spcPts val="3080"/>
              </a:lnSpc>
            </a:pPr>
            <a:r>
              <a:rPr sz="2200" lang="en-US">
                <a:solidFill>
                  <a:srgbClr val="4C4A4A"/>
                </a:solidFill>
                <a:latin typeface="TT Commons Pro"/>
                <a:ea typeface="TT Commons Pro"/>
                <a:cs typeface="TT Commons Pro"/>
                <a:sym typeface="TT Commons Pro"/>
              </a:rPr>
              <a:t>       Soluciones exactas</a:t>
            </a:r>
          </a:p>
          <a:p>
            <a:pPr algn="l">
              <a:lnSpc>
                <a:spcPts val="3080"/>
              </a:lnSpc>
            </a:pPr>
            <a:r>
              <a:rPr sz="2200" lang="en-US">
                <a:solidFill>
                  <a:srgbClr val="4C4A4A"/>
                </a:solidFill>
                <a:latin typeface="TT Commons Pro"/>
                <a:ea typeface="TT Commons Pro"/>
                <a:cs typeface="TT Commons Pro"/>
                <a:sym typeface="TT Commons Pro"/>
              </a:rPr>
              <a:t>   Ejemplo: procesos técnicos</a:t>
            </a:r>
          </a:p>
        </p:txBody>
      </p:sp>
      <p:sp>
        <p:nvSpPr>
          <p:cNvPr id="1048747" name="TextBox 15"/>
          <p:cNvSpPr txBox="1"/>
          <p:nvPr/>
        </p:nvSpPr>
        <p:spPr>
          <a:xfrm rot="0">
            <a:off x="1386504" y="2119945"/>
            <a:ext cx="6630561" cy="1200785"/>
          </a:xfrm>
          <a:prstGeom prst="rect"/>
        </p:spPr>
        <p:txBody>
          <a:bodyPr anchor="t" bIns="0" lIns="0" rIns="0" rtlCol="0" tIns="0">
            <a:spAutoFit/>
          </a:bodyPr>
          <a:p>
            <a:pPr algn="l">
              <a:lnSpc>
                <a:spcPts val="9455"/>
              </a:lnSpc>
            </a:pPr>
            <a:r>
              <a:rPr sz="6753" lang="en-US" spc="283">
                <a:solidFill>
                  <a:srgbClr val="4C4A4A"/>
                </a:solidFill>
                <a:latin typeface="RQND Pro Condensed"/>
                <a:ea typeface="RQND Pro Condensed"/>
                <a:cs typeface="RQND Pro Condensed"/>
                <a:sym typeface="RQND Pro Condensed"/>
              </a:rPr>
              <a:t>Sistemas</a:t>
            </a:r>
          </a:p>
        </p:txBody>
      </p:sp>
      <p:sp>
        <p:nvSpPr>
          <p:cNvPr id="1048748" name="TextBox 16"/>
          <p:cNvSpPr txBox="1"/>
          <p:nvPr/>
        </p:nvSpPr>
        <p:spPr>
          <a:xfrm rot="0">
            <a:off x="1386504" y="8280850"/>
            <a:ext cx="5836799" cy="801370"/>
          </a:xfrm>
          <a:prstGeom prst="rect"/>
        </p:spPr>
        <p:txBody>
          <a:bodyPr anchor="t" bIns="0" lIns="0" rIns="0" rtlCol="0" tIns="0">
            <a:spAutoFit/>
          </a:bodyPr>
          <a:p>
            <a:pPr algn="l">
              <a:lnSpc>
                <a:spcPts val="3079"/>
              </a:lnSpc>
            </a:pPr>
            <a:r>
              <a:rPr b="1" sz="2199" lang="en-US">
                <a:solidFill>
                  <a:srgbClr val="4C4A4A"/>
                </a:solidFill>
                <a:latin typeface="Arian Bold"/>
                <a:ea typeface="Arian Bold"/>
                <a:cs typeface="Arian Bold"/>
                <a:sym typeface="Arian Bold"/>
              </a:rPr>
              <a:t>APLICABLE</a:t>
            </a:r>
            <a:r>
              <a:rPr b="1" sz="2199" lang="en-US">
                <a:solidFill>
                  <a:srgbClr val="4C4A4A"/>
                </a:solidFill>
                <a:latin typeface="Arian Bold"/>
                <a:ea typeface="Arian Bold"/>
                <a:cs typeface="Arian Bold"/>
                <a:sym typeface="Arian Bold"/>
              </a:rPr>
              <a:t>S EN INGENIERÍA, PRODUCCIÓN Y SISTEMAS TÉCNICOS.</a:t>
            </a:r>
          </a:p>
        </p:txBody>
      </p:sp>
      <p:sp>
        <p:nvSpPr>
          <p:cNvPr id="1048749" name="Freeform 17"/>
          <p:cNvSpPr/>
          <p:nvPr/>
        </p:nvSpPr>
        <p:spPr>
          <a:xfrm rot="0" flipH="0" flipV="0">
            <a:off x="13111288" y="4420894"/>
            <a:ext cx="4204529" cy="3004327"/>
          </a:xfrm>
          <a:custGeom>
            <a:avLst/>
            <a:ahLst/>
            <a:rect l="l" t="t" r="r" b="b"/>
            <a:pathLst>
              <a:path w="4204529" h="3004327">
                <a:moveTo>
                  <a:pt x="0" y="0"/>
                </a:moveTo>
                <a:lnTo>
                  <a:pt x="4204529" y="0"/>
                </a:lnTo>
                <a:lnTo>
                  <a:pt x="4204529" y="3004327"/>
                </a:lnTo>
                <a:lnTo>
                  <a:pt x="0" y="3004327"/>
                </a:lnTo>
                <a:lnTo>
                  <a:pt x="0" y="0"/>
                </a:lnTo>
                <a:close/>
              </a:path>
            </a:pathLst>
          </a:custGeom>
          <a:blipFill>
            <a:blip xmlns:r="http://schemas.openxmlformats.org/officeDocument/2006/relationships" r:embed="rId3"/>
            <a:stretch>
              <a:fillRect l="0" t="0" r="0" b="0"/>
            </a:stretch>
          </a:blipFill>
        </p:spPr>
      </p:sp>
      <p:sp>
        <p:nvSpPr>
          <p:cNvPr id="1048750" name="Freeform 18"/>
          <p:cNvSpPr/>
          <p:nvPr/>
        </p:nvSpPr>
        <p:spPr>
          <a:xfrm rot="0" flipH="0" flipV="0">
            <a:off x="10729768" y="2206434"/>
            <a:ext cx="3573287" cy="4217399"/>
          </a:xfrm>
          <a:custGeom>
            <a:avLst/>
            <a:ahLst/>
            <a:rect l="l" t="t" r="r" b="b"/>
            <a:pathLst>
              <a:path w="3573287" h="4217399">
                <a:moveTo>
                  <a:pt x="0" y="0"/>
                </a:moveTo>
                <a:lnTo>
                  <a:pt x="3573287" y="0"/>
                </a:lnTo>
                <a:lnTo>
                  <a:pt x="3573287" y="4217399"/>
                </a:lnTo>
                <a:lnTo>
                  <a:pt x="0" y="4217399"/>
                </a:lnTo>
                <a:lnTo>
                  <a:pt x="0" y="0"/>
                </a:lnTo>
                <a:close/>
              </a:path>
            </a:pathLst>
          </a:custGeom>
          <a:blipFill>
            <a:blip xmlns:r="http://schemas.openxmlformats.org/officeDocument/2006/relationships" r:embed="rId4"/>
            <a:stretch>
              <a:fillRect l="0" t="0" r="0" b="0"/>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54" name=""/>
        <p:cNvGrpSpPr/>
        <p:nvPr/>
      </p:nvGrpSpPr>
      <p:grpSpPr>
        <a:xfrm>
          <a:off x="0" y="0"/>
          <a:ext cx="0" cy="0"/>
          <a:chOff x="0" y="0"/>
          <a:chExt cx="0" cy="0"/>
        </a:xfrm>
      </p:grpSpPr>
      <p:grpSp>
        <p:nvGrpSpPr>
          <p:cNvPr id="55" name="Group 2"/>
          <p:cNvGrpSpPr/>
          <p:nvPr/>
        </p:nvGrpSpPr>
        <p:grpSpPr>
          <a:xfrm rot="0">
            <a:off x="560181" y="580551"/>
            <a:ext cx="17167638" cy="9125897"/>
            <a:chOff x="0" y="0"/>
            <a:chExt cx="4521518" cy="2403529"/>
          </a:xfrm>
        </p:grpSpPr>
        <p:sp>
          <p:nvSpPr>
            <p:cNvPr id="1048751"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752"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753"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754"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755"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756"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757"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56" name="Group 10"/>
          <p:cNvGrpSpPr/>
          <p:nvPr/>
        </p:nvGrpSpPr>
        <p:grpSpPr>
          <a:xfrm rot="0">
            <a:off x="1485978" y="8180971"/>
            <a:ext cx="1796555" cy="1077329"/>
            <a:chOff x="0" y="0"/>
            <a:chExt cx="6349746" cy="3807714"/>
          </a:xfrm>
        </p:grpSpPr>
        <p:sp>
          <p:nvSpPr>
            <p:cNvPr id="1048758"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759"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760"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761" name="TextBox 14"/>
          <p:cNvSpPr txBox="1"/>
          <p:nvPr/>
        </p:nvSpPr>
        <p:spPr>
          <a:xfrm rot="0">
            <a:off x="1386504" y="2716371"/>
            <a:ext cx="8462885" cy="1660651"/>
          </a:xfrm>
          <a:prstGeom prst="rect"/>
        </p:spPr>
        <p:txBody>
          <a:bodyPr anchor="t" bIns="0" lIns="0" rIns="0" rtlCol="0" tIns="0">
            <a:spAutoFit/>
          </a:bodyPr>
          <a:p>
            <a:pPr algn="l">
              <a:lnSpc>
                <a:spcPts val="13076"/>
              </a:lnSpc>
            </a:pPr>
            <a:r>
              <a:rPr sz="9340" lang="en-US" spc="392">
                <a:solidFill>
                  <a:srgbClr val="4C4A4A"/>
                </a:solidFill>
                <a:latin typeface="RQND Pro Medium"/>
                <a:ea typeface="RQND Pro Medium"/>
                <a:cs typeface="RQND Pro Medium"/>
                <a:sym typeface="RQND Pro Medium"/>
              </a:rPr>
              <a:t>BLANDOS</a:t>
            </a:r>
          </a:p>
        </p:txBody>
      </p:sp>
      <p:sp>
        <p:nvSpPr>
          <p:cNvPr id="1048762" name="TextBox 15"/>
          <p:cNvSpPr txBox="1"/>
          <p:nvPr/>
        </p:nvSpPr>
        <p:spPr>
          <a:xfrm rot="0">
            <a:off x="863416" y="881869"/>
            <a:ext cx="5172877"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UNIVERSIDAD NACIONAL DEL CALLAO</a:t>
            </a:r>
          </a:p>
        </p:txBody>
      </p:sp>
      <p:sp>
        <p:nvSpPr>
          <p:cNvPr id="1048763" name="TextBox 16"/>
          <p:cNvSpPr txBox="1"/>
          <p:nvPr/>
        </p:nvSpPr>
        <p:spPr>
          <a:xfrm rot="0">
            <a:off x="10729768" y="8476113"/>
            <a:ext cx="5112287" cy="344805"/>
          </a:xfrm>
          <a:prstGeom prst="rect"/>
        </p:spPr>
        <p:txBody>
          <a:bodyPr anchor="t" bIns="0" lIns="0" rIns="0" rtlCol="0" tIns="0">
            <a:spAutoFit/>
          </a:bodyPr>
          <a:p>
            <a:pPr algn="l">
              <a:lnSpc>
                <a:spcPts val="2520"/>
              </a:lnSpc>
            </a:pPr>
            <a:r>
              <a:rPr b="1" sz="1800" lang="en-US">
                <a:solidFill>
                  <a:srgbClr val="4C4A4A"/>
                </a:solidFill>
                <a:latin typeface="Arian Bold"/>
                <a:ea typeface="Arian Bold"/>
                <a:cs typeface="Arian Bold"/>
                <a:sym typeface="Arian Bold"/>
              </a:rPr>
              <a:t>INTRODUCCION A LA ING. DE SISTEMAS</a:t>
            </a:r>
          </a:p>
        </p:txBody>
      </p:sp>
      <p:sp>
        <p:nvSpPr>
          <p:cNvPr id="1048764" name="TextBox 17"/>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PRESENTATION</a:t>
            </a:r>
          </a:p>
        </p:txBody>
      </p:sp>
      <p:sp>
        <p:nvSpPr>
          <p:cNvPr id="1048765" name="TextBox 18"/>
          <p:cNvSpPr txBox="1"/>
          <p:nvPr/>
        </p:nvSpPr>
        <p:spPr>
          <a:xfrm rot="0">
            <a:off x="1485978" y="4600884"/>
            <a:ext cx="7877097" cy="2370940"/>
          </a:xfrm>
          <a:prstGeom prst="rect"/>
        </p:spPr>
        <p:txBody>
          <a:bodyPr anchor="t" bIns="0" lIns="0" rIns="0" rtlCol="0" tIns="0">
            <a:spAutoFit/>
          </a:bodyPr>
          <a:p>
            <a:pPr algn="l">
              <a:lnSpc>
                <a:spcPts val="3306"/>
              </a:lnSpc>
            </a:pPr>
            <a:r>
              <a:rPr sz="2361" lang="en-US">
                <a:solidFill>
                  <a:srgbClr val="4C4A4A"/>
                </a:solidFill>
                <a:latin typeface="TT Commons Pro"/>
                <a:ea typeface="TT Commons Pro"/>
                <a:cs typeface="TT Commons Pro"/>
                <a:sym typeface="TT Commons Pro"/>
              </a:rPr>
              <a:t>Problemas complejos y subjetivos Consideran:</a:t>
            </a:r>
          </a:p>
          <a:p>
            <a:pPr algn="l">
              <a:lnSpc>
                <a:spcPts val="3079"/>
              </a:lnSpc>
            </a:pPr>
            <a:r>
              <a:rPr sz="2199" lang="en-US">
                <a:solidFill>
                  <a:srgbClr val="4C4A4A"/>
                </a:solidFill>
                <a:latin typeface="TT Commons Pro"/>
                <a:ea typeface="TT Commons Pro"/>
                <a:cs typeface="TT Commons Pro"/>
                <a:sym typeface="TT Commons Pro"/>
              </a:rPr>
              <a:t>           </a:t>
            </a:r>
            <a:r>
              <a:rPr sz="2199" lang="en-US">
                <a:solidFill>
                  <a:srgbClr val="4C4A4A"/>
                </a:solidFill>
                <a:latin typeface="TT Commons Pro"/>
                <a:ea typeface="TT Commons Pro"/>
                <a:cs typeface="TT Commons Pro"/>
                <a:sym typeface="TT Commons Pro"/>
              </a:rPr>
              <a:t>Factores humanos.</a:t>
            </a:r>
          </a:p>
          <a:p>
            <a:pPr algn="l">
              <a:lnSpc>
                <a:spcPts val="3079"/>
              </a:lnSpc>
            </a:pPr>
            <a:r>
              <a:rPr sz="2199" lang="en-US">
                <a:solidFill>
                  <a:srgbClr val="4C4A4A"/>
                </a:solidFill>
                <a:latin typeface="TT Commons Pro"/>
                <a:ea typeface="TT Commons Pro"/>
                <a:cs typeface="TT Commons Pro"/>
                <a:sym typeface="TT Commons Pro"/>
              </a:rPr>
              <a:t>           Cultura y percepciones. </a:t>
            </a:r>
          </a:p>
          <a:p>
            <a:pPr algn="l">
              <a:lnSpc>
                <a:spcPts val="3079"/>
              </a:lnSpc>
            </a:pPr>
            <a:r>
              <a:rPr sz="2199" lang="en-US">
                <a:solidFill>
                  <a:srgbClr val="4C4A4A"/>
                </a:solidFill>
                <a:latin typeface="TT Commons Pro"/>
                <a:ea typeface="TT Commons Pro"/>
                <a:cs typeface="TT Commons Pro"/>
                <a:sym typeface="TT Commons Pro"/>
              </a:rPr>
              <a:t>           Uso de análisis cualitativo.</a:t>
            </a:r>
          </a:p>
          <a:p>
            <a:pPr algn="l">
              <a:lnSpc>
                <a:spcPts val="3079"/>
              </a:lnSpc>
            </a:pPr>
            <a:r>
              <a:rPr sz="2199" lang="en-US">
                <a:solidFill>
                  <a:srgbClr val="4C4A4A"/>
                </a:solidFill>
                <a:latin typeface="TT Commons Pro"/>
                <a:ea typeface="TT Commons Pro"/>
                <a:cs typeface="TT Commons Pro"/>
                <a:sym typeface="TT Commons Pro"/>
              </a:rPr>
              <a:t>Buscan: </a:t>
            </a:r>
          </a:p>
          <a:p>
            <a:pPr algn="l">
              <a:lnSpc>
                <a:spcPts val="3079"/>
              </a:lnSpc>
            </a:pPr>
            <a:r>
              <a:rPr sz="2199" lang="en-US">
                <a:solidFill>
                  <a:srgbClr val="4C4A4A"/>
                </a:solidFill>
                <a:latin typeface="TT Commons Pro"/>
                <a:ea typeface="TT Commons Pro"/>
                <a:cs typeface="TT Commons Pro"/>
                <a:sym typeface="TT Commons Pro"/>
              </a:rPr>
              <a:t>          Soluciones viables, no únicas.</a:t>
            </a:r>
          </a:p>
        </p:txBody>
      </p:sp>
      <p:sp>
        <p:nvSpPr>
          <p:cNvPr id="1048766" name="TextBox 19"/>
          <p:cNvSpPr txBox="1"/>
          <p:nvPr/>
        </p:nvSpPr>
        <p:spPr>
          <a:xfrm rot="0">
            <a:off x="1485978" y="2157271"/>
            <a:ext cx="6630561" cy="1200785"/>
          </a:xfrm>
          <a:prstGeom prst="rect"/>
        </p:spPr>
        <p:txBody>
          <a:bodyPr anchor="t" bIns="0" lIns="0" rIns="0" rtlCol="0" tIns="0">
            <a:spAutoFit/>
          </a:bodyPr>
          <a:p>
            <a:pPr algn="l">
              <a:lnSpc>
                <a:spcPts val="9455"/>
              </a:lnSpc>
            </a:pPr>
            <a:r>
              <a:rPr sz="6753" lang="en-US" spc="283">
                <a:solidFill>
                  <a:srgbClr val="4C4A4A"/>
                </a:solidFill>
                <a:latin typeface="RQND Pro Condensed"/>
                <a:ea typeface="RQND Pro Condensed"/>
                <a:cs typeface="RQND Pro Condensed"/>
                <a:sym typeface="RQND Pro Condensed"/>
              </a:rPr>
              <a:t>SISTEMAS</a:t>
            </a:r>
          </a:p>
        </p:txBody>
      </p:sp>
      <p:sp>
        <p:nvSpPr>
          <p:cNvPr id="1048767" name="Freeform 20"/>
          <p:cNvSpPr/>
          <p:nvPr/>
        </p:nvSpPr>
        <p:spPr>
          <a:xfrm rot="0" flipH="0" flipV="0">
            <a:off x="10539061" y="3985353"/>
            <a:ext cx="5302994" cy="3258931"/>
          </a:xfrm>
          <a:custGeom>
            <a:avLst/>
            <a:ahLst/>
            <a:rect l="l" t="t" r="r" b="b"/>
            <a:pathLst>
              <a:path w="5302994" h="3258931">
                <a:moveTo>
                  <a:pt x="0" y="0"/>
                </a:moveTo>
                <a:lnTo>
                  <a:pt x="5302994" y="0"/>
                </a:lnTo>
                <a:lnTo>
                  <a:pt x="5302994" y="3258931"/>
                </a:lnTo>
                <a:lnTo>
                  <a:pt x="0" y="3258931"/>
                </a:lnTo>
                <a:lnTo>
                  <a:pt x="0" y="0"/>
                </a:lnTo>
                <a:close/>
              </a:path>
            </a:pathLst>
          </a:custGeom>
          <a:blipFill>
            <a:blip xmlns:r="http://schemas.openxmlformats.org/officeDocument/2006/relationships" r:embed="rId4"/>
            <a:stretch>
              <a:fillRect l="0" t="0" r="0" b="0"/>
            </a:stretch>
          </a:blipFill>
        </p:spPr>
      </p:sp>
      <p:sp>
        <p:nvSpPr>
          <p:cNvPr id="1048768" name="Freeform 21"/>
          <p:cNvSpPr/>
          <p:nvPr/>
        </p:nvSpPr>
        <p:spPr>
          <a:xfrm rot="0" flipH="0" flipV="0">
            <a:off x="12535963" y="2129788"/>
            <a:ext cx="4582608" cy="4114800"/>
          </a:xfrm>
          <a:custGeom>
            <a:avLst/>
            <a:ahLst/>
            <a:rect l="l" t="t" r="r" b="b"/>
            <a:pathLst>
              <a:path w="4582608" h="4114800">
                <a:moveTo>
                  <a:pt x="0" y="0"/>
                </a:moveTo>
                <a:lnTo>
                  <a:pt x="4582608" y="0"/>
                </a:lnTo>
                <a:lnTo>
                  <a:pt x="4582608" y="4114800"/>
                </a:lnTo>
                <a:lnTo>
                  <a:pt x="0" y="4114800"/>
                </a:lnTo>
                <a:lnTo>
                  <a:pt x="0" y="0"/>
                </a:lnTo>
                <a:close/>
              </a:path>
            </a:pathLst>
          </a:custGeom>
          <a:blipFill>
            <a:blip xmlns:r="http://schemas.openxmlformats.org/officeDocument/2006/relationships" r:embed="rId5"/>
            <a:stretch>
              <a:fillRect l="0" t="0" r="0" b="0"/>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57" name=""/>
        <p:cNvGrpSpPr/>
        <p:nvPr/>
      </p:nvGrpSpPr>
      <p:grpSpPr>
        <a:xfrm>
          <a:off x="0" y="0"/>
          <a:ext cx="0" cy="0"/>
          <a:chOff x="0" y="0"/>
          <a:chExt cx="0" cy="0"/>
        </a:xfrm>
      </p:grpSpPr>
      <p:grpSp>
        <p:nvGrpSpPr>
          <p:cNvPr id="58" name="Group 2"/>
          <p:cNvGrpSpPr/>
          <p:nvPr/>
        </p:nvGrpSpPr>
        <p:grpSpPr>
          <a:xfrm rot="0">
            <a:off x="485883" y="580551"/>
            <a:ext cx="17167638" cy="9125897"/>
            <a:chOff x="0" y="0"/>
            <a:chExt cx="4521518" cy="2403529"/>
          </a:xfrm>
        </p:grpSpPr>
        <p:sp>
          <p:nvSpPr>
            <p:cNvPr id="1048769"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770"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771" name="AutoShape 5"/>
          <p:cNvSpPr/>
          <p:nvPr/>
        </p:nvSpPr>
        <p:spPr>
          <a:xfrm>
            <a:off x="560181" y="1619422"/>
            <a:ext cx="17093341" cy="0"/>
          </a:xfrm>
          <a:prstGeom prst="line"/>
          <a:ln w="9525" cap="flat">
            <a:solidFill>
              <a:srgbClr val="000000"/>
            </a:solidFill>
            <a:prstDash val="solid"/>
            <a:headEnd type="none" w="sm" len="sm"/>
            <a:tailEnd type="none" w="sm" len="sm"/>
          </a:ln>
        </p:spPr>
      </p:sp>
      <p:sp>
        <p:nvSpPr>
          <p:cNvPr id="1048772"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773" name="Freeform 7"/>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774" name="Freeform 8"/>
          <p:cNvSpPr/>
          <p:nvPr/>
        </p:nvSpPr>
        <p:spPr>
          <a:xfrm rot="0" flipH="0" flipV="0">
            <a:off x="7496686"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sp>
        <p:nvSpPr>
          <p:cNvPr id="1048775" name="Freeform 9"/>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776" name="TextBox 10"/>
          <p:cNvSpPr txBox="1"/>
          <p:nvPr/>
        </p:nvSpPr>
        <p:spPr>
          <a:xfrm rot="0">
            <a:off x="1396360" y="832339"/>
            <a:ext cx="4046335" cy="394335"/>
          </a:xfrm>
          <a:prstGeom prst="rect"/>
        </p:spPr>
        <p:txBody>
          <a:bodyPr anchor="t" bIns="0" lIns="0" rIns="0" rtlCol="0" tIns="0">
            <a:spAutoFit/>
          </a:bodyPr>
          <a:p>
            <a:pPr algn="l">
              <a:lnSpc>
                <a:spcPts val="2940"/>
              </a:lnSpc>
            </a:pPr>
            <a:r>
              <a:rPr b="1" sz="2100" lang="en-US">
                <a:solidFill>
                  <a:srgbClr val="4C4A4A"/>
                </a:solidFill>
                <a:latin typeface="Arian Bold"/>
                <a:ea typeface="Arian Bold"/>
                <a:cs typeface="Arian Bold"/>
                <a:sym typeface="Arian Bold"/>
              </a:rPr>
              <a:t>PRINCIPALES DIFERENCIAS</a:t>
            </a:r>
          </a:p>
        </p:txBody>
      </p:sp>
      <p:sp>
        <p:nvSpPr>
          <p:cNvPr id="1048777" name="TextBox 11"/>
          <p:cNvSpPr txBox="1"/>
          <p:nvPr/>
        </p:nvSpPr>
        <p:spPr>
          <a:xfrm rot="0">
            <a:off x="10495853" y="8500878"/>
            <a:ext cx="5230870"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INTRODUCCION A LA ING. DE SISTEMAS</a:t>
            </a:r>
          </a:p>
        </p:txBody>
      </p:sp>
      <p:sp>
        <p:nvSpPr>
          <p:cNvPr id="1048778" name="TextBox 12"/>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PRESENTACION</a:t>
            </a:r>
          </a:p>
        </p:txBody>
      </p:sp>
      <p:sp>
        <p:nvSpPr>
          <p:cNvPr id="1048779" name="TextBox 13"/>
          <p:cNvSpPr txBox="1"/>
          <p:nvPr/>
        </p:nvSpPr>
        <p:spPr>
          <a:xfrm rot="0">
            <a:off x="12524474" y="5511547"/>
            <a:ext cx="4734826" cy="928115"/>
          </a:xfrm>
          <a:prstGeom prst="rect"/>
        </p:spPr>
        <p:txBody>
          <a:bodyPr anchor="t" bIns="0" lIns="0" rIns="0" rtlCol="0" tIns="0">
            <a:spAutoFit/>
          </a:bodyPr>
          <a:p>
            <a:pPr algn="ctr">
              <a:lnSpc>
                <a:spcPts val="7308"/>
              </a:lnSpc>
            </a:pPr>
            <a:r>
              <a:rPr sz="5220" lang="en-US" spc="219">
                <a:solidFill>
                  <a:srgbClr val="4C4A4A"/>
                </a:solidFill>
                <a:latin typeface="RQND Pro Condensed"/>
                <a:ea typeface="RQND Pro Condensed"/>
                <a:cs typeface="RQND Pro Condensed"/>
                <a:sym typeface="RQND Pro Condensed"/>
              </a:rPr>
              <a:t>Variables</a:t>
            </a:r>
          </a:p>
        </p:txBody>
      </p:sp>
      <p:sp>
        <p:nvSpPr>
          <p:cNvPr id="1048780" name="Freeform 14"/>
          <p:cNvSpPr/>
          <p:nvPr/>
        </p:nvSpPr>
        <p:spPr>
          <a:xfrm rot="0" flipH="0" flipV="0">
            <a:off x="8157027" y="2508182"/>
            <a:ext cx="1973945" cy="2693970"/>
          </a:xfrm>
          <a:custGeom>
            <a:avLst/>
            <a:ahLst/>
            <a:rect l="l" t="t" r="r" b="b"/>
            <a:pathLst>
              <a:path w="1973945" h="2693970">
                <a:moveTo>
                  <a:pt x="0" y="0"/>
                </a:moveTo>
                <a:lnTo>
                  <a:pt x="1973946" y="0"/>
                </a:lnTo>
                <a:lnTo>
                  <a:pt x="1973946" y="2693970"/>
                </a:lnTo>
                <a:lnTo>
                  <a:pt x="0" y="2693970"/>
                </a:lnTo>
                <a:lnTo>
                  <a:pt x="0" y="0"/>
                </a:lnTo>
                <a:close/>
              </a:path>
            </a:pathLst>
          </a:custGeom>
          <a:blipFill>
            <a:blip xmlns:r="http://schemas.openxmlformats.org/officeDocument/2006/relationships" r:embed="rId4"/>
            <a:stretch>
              <a:fillRect l="0" t="0" r="0" b="0"/>
            </a:stretch>
          </a:blipFill>
        </p:spPr>
      </p:sp>
      <p:sp>
        <p:nvSpPr>
          <p:cNvPr id="1048781" name="Freeform 15"/>
          <p:cNvSpPr/>
          <p:nvPr/>
        </p:nvSpPr>
        <p:spPr>
          <a:xfrm rot="0" flipH="0" flipV="0">
            <a:off x="1923195" y="2612733"/>
            <a:ext cx="2282527" cy="2693970"/>
          </a:xfrm>
          <a:custGeom>
            <a:avLst/>
            <a:ahLst/>
            <a:rect l="l" t="t" r="r" b="b"/>
            <a:pathLst>
              <a:path w="2282527" h="2693970">
                <a:moveTo>
                  <a:pt x="0" y="0"/>
                </a:moveTo>
                <a:lnTo>
                  <a:pt x="2282527" y="0"/>
                </a:lnTo>
                <a:lnTo>
                  <a:pt x="2282527" y="2693970"/>
                </a:lnTo>
                <a:lnTo>
                  <a:pt x="0" y="2693970"/>
                </a:lnTo>
                <a:lnTo>
                  <a:pt x="0" y="0"/>
                </a:lnTo>
                <a:close/>
              </a:path>
            </a:pathLst>
          </a:custGeom>
          <a:blipFill>
            <a:blip xmlns:r="http://schemas.openxmlformats.org/officeDocument/2006/relationships" r:embed="rId5"/>
            <a:stretch>
              <a:fillRect l="0" t="0" r="0" b="0"/>
            </a:stretch>
          </a:blipFill>
        </p:spPr>
      </p:sp>
      <p:sp>
        <p:nvSpPr>
          <p:cNvPr id="1048782" name="Freeform 16"/>
          <p:cNvSpPr/>
          <p:nvPr/>
        </p:nvSpPr>
        <p:spPr>
          <a:xfrm rot="0" flipH="0" flipV="0">
            <a:off x="13775058" y="2644749"/>
            <a:ext cx="2543867" cy="2629937"/>
          </a:xfrm>
          <a:custGeom>
            <a:avLst/>
            <a:ahLst/>
            <a:rect l="l" t="t" r="r" b="b"/>
            <a:pathLst>
              <a:path w="2543867" h="2629937">
                <a:moveTo>
                  <a:pt x="0" y="0"/>
                </a:moveTo>
                <a:lnTo>
                  <a:pt x="2543866" y="0"/>
                </a:lnTo>
                <a:lnTo>
                  <a:pt x="2543866" y="2629938"/>
                </a:lnTo>
                <a:lnTo>
                  <a:pt x="0" y="2629938"/>
                </a:lnTo>
                <a:lnTo>
                  <a:pt x="0" y="0"/>
                </a:lnTo>
                <a:close/>
              </a:path>
            </a:pathLst>
          </a:custGeom>
          <a:blipFill>
            <a:blip xmlns:r="http://schemas.openxmlformats.org/officeDocument/2006/relationships" r:embed="rId6"/>
            <a:stretch>
              <a:fillRect l="0" t="0" r="0" b="0"/>
            </a:stretch>
          </a:blipFill>
        </p:spPr>
      </p:sp>
      <p:sp>
        <p:nvSpPr>
          <p:cNvPr id="1048783" name="TextBox 17"/>
          <p:cNvSpPr txBox="1"/>
          <p:nvPr/>
        </p:nvSpPr>
        <p:spPr>
          <a:xfrm rot="0">
            <a:off x="13005714" y="6540047"/>
            <a:ext cx="3772346" cy="621030"/>
          </a:xfrm>
          <a:prstGeom prst="rect"/>
        </p:spPr>
        <p:txBody>
          <a:bodyPr anchor="t" bIns="0" lIns="0" rIns="0" rtlCol="0" tIns="0">
            <a:spAutoFit/>
          </a:bodyPr>
          <a:p>
            <a:pPr algn="ctr">
              <a:lnSpc>
                <a:spcPts val="2519"/>
              </a:lnSpc>
            </a:pPr>
            <a:r>
              <a:rPr sz="1799" lang="en-US">
                <a:solidFill>
                  <a:srgbClr val="4C4A4A"/>
                </a:solidFill>
                <a:latin typeface="TT Commons Pro"/>
                <a:ea typeface="TT Commons Pro"/>
                <a:cs typeface="TT Commons Pro"/>
                <a:sym typeface="TT Commons Pro"/>
              </a:rPr>
              <a:t>Cuantitativas (Sistemas Duros) Vs. Cualitativas (Sistemas Blandos)</a:t>
            </a:r>
          </a:p>
        </p:txBody>
      </p:sp>
      <p:sp>
        <p:nvSpPr>
          <p:cNvPr id="1048784" name="AutoShape 18"/>
          <p:cNvSpPr/>
          <p:nvPr/>
        </p:nvSpPr>
        <p:spPr>
          <a:xfrm flipV="1">
            <a:off x="12125776" y="580551"/>
            <a:ext cx="0" cy="7220907"/>
          </a:xfrm>
          <a:prstGeom prst="line"/>
          <a:ln w="9525" cap="flat">
            <a:solidFill>
              <a:srgbClr val="000000"/>
            </a:solidFill>
            <a:prstDash val="solid"/>
            <a:headEnd type="none" w="sm" len="sm"/>
            <a:tailEnd type="none" w="sm" len="sm"/>
          </a:ln>
        </p:spPr>
      </p:sp>
      <p:sp>
        <p:nvSpPr>
          <p:cNvPr id="1048785" name="AutoShape 19"/>
          <p:cNvSpPr/>
          <p:nvPr/>
        </p:nvSpPr>
        <p:spPr>
          <a:xfrm flipV="1">
            <a:off x="6158318" y="580551"/>
            <a:ext cx="0" cy="7220907"/>
          </a:xfrm>
          <a:prstGeom prst="line"/>
          <a:ln w="9525" cap="flat">
            <a:solidFill>
              <a:srgbClr val="000000"/>
            </a:solidFill>
            <a:prstDash val="solid"/>
            <a:headEnd type="none" w="sm" len="sm"/>
            <a:tailEnd type="none" w="sm" len="sm"/>
          </a:ln>
        </p:spPr>
      </p:sp>
      <p:sp>
        <p:nvSpPr>
          <p:cNvPr id="1048786" name="TextBox 20"/>
          <p:cNvSpPr txBox="1"/>
          <p:nvPr/>
        </p:nvSpPr>
        <p:spPr>
          <a:xfrm rot="0">
            <a:off x="915120" y="5511547"/>
            <a:ext cx="4734826" cy="928115"/>
          </a:xfrm>
          <a:prstGeom prst="rect"/>
        </p:spPr>
        <p:txBody>
          <a:bodyPr anchor="t" bIns="0" lIns="0" rIns="0" rtlCol="0" tIns="0">
            <a:spAutoFit/>
          </a:bodyPr>
          <a:p>
            <a:pPr algn="ctr">
              <a:lnSpc>
                <a:spcPts val="7308"/>
              </a:lnSpc>
            </a:pPr>
            <a:r>
              <a:rPr sz="5220" lang="en-US" spc="219">
                <a:solidFill>
                  <a:srgbClr val="4C4A4A"/>
                </a:solidFill>
                <a:latin typeface="RQND Pro Condensed"/>
                <a:ea typeface="RQND Pro Condensed"/>
                <a:cs typeface="RQND Pro Condensed"/>
                <a:sym typeface="RQND Pro Condensed"/>
              </a:rPr>
              <a:t>Problemas</a:t>
            </a:r>
          </a:p>
        </p:txBody>
      </p:sp>
      <p:sp>
        <p:nvSpPr>
          <p:cNvPr id="1048787" name="TextBox 21"/>
          <p:cNvSpPr txBox="1"/>
          <p:nvPr/>
        </p:nvSpPr>
        <p:spPr>
          <a:xfrm rot="0">
            <a:off x="1396360" y="6540047"/>
            <a:ext cx="3772346" cy="621030"/>
          </a:xfrm>
          <a:prstGeom prst="rect"/>
        </p:spPr>
        <p:txBody>
          <a:bodyPr anchor="t" bIns="0" lIns="0" rIns="0" rtlCol="0" tIns="0">
            <a:spAutoFit/>
          </a:bodyPr>
          <a:p>
            <a:pPr algn="ctr">
              <a:lnSpc>
                <a:spcPts val="2519"/>
              </a:lnSpc>
            </a:pPr>
            <a:r>
              <a:rPr sz="1799" lang="en-US">
                <a:solidFill>
                  <a:srgbClr val="4C4A4A"/>
                </a:solidFill>
                <a:latin typeface="TT Commons Pro"/>
                <a:ea typeface="TT Commons Pro"/>
                <a:cs typeface="TT Commons Pro"/>
                <a:sym typeface="TT Commons Pro"/>
              </a:rPr>
              <a:t>Estructurado (Sistemas Duros) Vs. No estructurado (Sistemas Blandos)</a:t>
            </a:r>
          </a:p>
        </p:txBody>
      </p:sp>
      <p:sp>
        <p:nvSpPr>
          <p:cNvPr id="1048788" name="TextBox 22"/>
          <p:cNvSpPr txBox="1"/>
          <p:nvPr/>
        </p:nvSpPr>
        <p:spPr>
          <a:xfrm rot="0">
            <a:off x="6776587" y="5511547"/>
            <a:ext cx="4734826" cy="928115"/>
          </a:xfrm>
          <a:prstGeom prst="rect"/>
        </p:spPr>
        <p:txBody>
          <a:bodyPr anchor="t" bIns="0" lIns="0" rIns="0" rtlCol="0" tIns="0">
            <a:spAutoFit/>
          </a:bodyPr>
          <a:p>
            <a:pPr algn="ctr">
              <a:lnSpc>
                <a:spcPts val="7308"/>
              </a:lnSpc>
            </a:pPr>
            <a:r>
              <a:rPr sz="5220" lang="en-US" spc="219">
                <a:solidFill>
                  <a:srgbClr val="4C4A4A"/>
                </a:solidFill>
                <a:latin typeface="RQND Pro Condensed"/>
                <a:ea typeface="RQND Pro Condensed"/>
                <a:cs typeface="RQND Pro Condensed"/>
                <a:sym typeface="RQND Pro Condensed"/>
              </a:rPr>
              <a:t>Soluciones</a:t>
            </a:r>
          </a:p>
        </p:txBody>
      </p:sp>
      <p:sp>
        <p:nvSpPr>
          <p:cNvPr id="1048789" name="TextBox 23"/>
          <p:cNvSpPr txBox="1"/>
          <p:nvPr/>
        </p:nvSpPr>
        <p:spPr>
          <a:xfrm rot="0">
            <a:off x="7257827" y="6517188"/>
            <a:ext cx="3772346" cy="1279652"/>
          </a:xfrm>
          <a:prstGeom prst="rect"/>
        </p:spPr>
        <p:txBody>
          <a:bodyPr anchor="t" bIns="0" lIns="0" rIns="0" rtlCol="0" tIns="0">
            <a:spAutoFit/>
          </a:bodyPr>
          <a:p>
            <a:pPr algn="ctr">
              <a:lnSpc>
                <a:spcPts val="2519"/>
              </a:lnSpc>
            </a:pPr>
            <a:r>
              <a:rPr sz="1799" lang="en-US">
                <a:solidFill>
                  <a:srgbClr val="4C4A4A"/>
                </a:solidFill>
                <a:latin typeface="TT Commons Pro"/>
                <a:ea typeface="TT Commons Pro"/>
                <a:cs typeface="TT Commons Pro"/>
                <a:sym typeface="TT Commons Pro"/>
              </a:rPr>
              <a:t>Solución óptima (Sistemas Duros) Vs. Soluciones múltiples/Adaptables (Sistemas Blandos)</a:t>
            </a:r>
          </a:p>
          <a:p>
            <a:pPr algn="ctr">
              <a:lnSpc>
                <a:spcPts val="2519"/>
              </a:lnSpc>
            </a:pPr>
          </a:p>
        </p:txBody>
      </p:sp>
      <p:sp>
        <p:nvSpPr>
          <p:cNvPr id="1048790" name="TextBox 24"/>
          <p:cNvSpPr txBox="1"/>
          <p:nvPr/>
        </p:nvSpPr>
        <p:spPr>
          <a:xfrm rot="0">
            <a:off x="1028700" y="8104771"/>
            <a:ext cx="5836799" cy="1137285"/>
          </a:xfrm>
          <a:prstGeom prst="rect"/>
        </p:spPr>
        <p:txBody>
          <a:bodyPr anchor="t" bIns="0" lIns="0" rIns="0" rtlCol="0" tIns="0">
            <a:spAutoFit/>
          </a:bodyPr>
          <a:p>
            <a:pPr algn="l">
              <a:lnSpc>
                <a:spcPts val="2940"/>
              </a:lnSpc>
            </a:pPr>
            <a:r>
              <a:rPr b="1" sz="2100" lang="en-US">
                <a:solidFill>
                  <a:srgbClr val="4C4A4A"/>
                </a:solidFill>
                <a:latin typeface="Arian Bold"/>
                <a:ea typeface="Arian Bold"/>
                <a:cs typeface="Arian Bold"/>
                <a:sym typeface="Arian Bold"/>
              </a:rPr>
              <a:t>SUS METODOS TAMBIEN VARIAN ENTRE LO MATEMATICO (SIST. DUROS) Y LO HUMANO (SIST. BLANDOS)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35" name=""/>
        <p:cNvGrpSpPr/>
        <p:nvPr/>
      </p:nvGrpSpPr>
      <p:grpSpPr>
        <a:xfrm>
          <a:off x="0" y="0"/>
          <a:ext cx="0" cy="0"/>
          <a:chOff x="0" y="0"/>
          <a:chExt cx="0" cy="0"/>
        </a:xfrm>
      </p:grpSpPr>
      <p:grpSp>
        <p:nvGrpSpPr>
          <p:cNvPr id="36" name="Group 2"/>
          <p:cNvGrpSpPr/>
          <p:nvPr/>
        </p:nvGrpSpPr>
        <p:grpSpPr>
          <a:xfrm rot="0">
            <a:off x="560181" y="580551"/>
            <a:ext cx="17167638" cy="9125897"/>
            <a:chOff x="0" y="0"/>
            <a:chExt cx="4521518" cy="2403529"/>
          </a:xfrm>
        </p:grpSpPr>
        <p:sp>
          <p:nvSpPr>
            <p:cNvPr id="1048635"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636"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637"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638"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639"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640"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641"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37" name="Group 10"/>
          <p:cNvGrpSpPr/>
          <p:nvPr/>
        </p:nvGrpSpPr>
        <p:grpSpPr>
          <a:xfrm rot="0">
            <a:off x="1485978" y="8180971"/>
            <a:ext cx="1796555" cy="1077329"/>
            <a:chOff x="0" y="0"/>
            <a:chExt cx="6349746" cy="3807714"/>
          </a:xfrm>
        </p:grpSpPr>
        <p:sp>
          <p:nvSpPr>
            <p:cNvPr id="1048642"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643"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644"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645" name="TextBox 14"/>
          <p:cNvSpPr txBox="1"/>
          <p:nvPr/>
        </p:nvSpPr>
        <p:spPr>
          <a:xfrm rot="0">
            <a:off x="1386504" y="2580681"/>
            <a:ext cx="8462885" cy="1660652"/>
          </a:xfrm>
          <a:prstGeom prst="rect"/>
        </p:spPr>
        <p:txBody>
          <a:bodyPr anchor="t" bIns="0" lIns="0" rIns="0" rtlCol="0" tIns="0">
            <a:spAutoFit/>
          </a:bodyPr>
          <a:p>
            <a:pPr algn="l">
              <a:lnSpc>
                <a:spcPts val="13076"/>
              </a:lnSpc>
            </a:pPr>
            <a:r>
              <a:rPr sz="9340" lang="en-US" spc="392">
                <a:solidFill>
                  <a:srgbClr val="4C4A4A"/>
                </a:solidFill>
                <a:latin typeface="RQND Pro Medium"/>
                <a:ea typeface="RQND Pro Medium"/>
                <a:cs typeface="RQND Pro Medium"/>
                <a:sym typeface="RQND Pro Medium"/>
              </a:rPr>
              <a:t>Sistemas</a:t>
            </a:r>
          </a:p>
        </p:txBody>
      </p:sp>
      <p:sp>
        <p:nvSpPr>
          <p:cNvPr id="1048646" name="TextBox 15"/>
          <p:cNvSpPr txBox="1"/>
          <p:nvPr/>
        </p:nvSpPr>
        <p:spPr>
          <a:xfrm rot="0">
            <a:off x="880471" y="881869"/>
            <a:ext cx="5054293"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UNIVERSIDAD NACIONAL DEL CALLAO</a:t>
            </a:r>
          </a:p>
        </p:txBody>
      </p:sp>
      <p:sp>
        <p:nvSpPr>
          <p:cNvPr id="1048647" name="TextBox 16"/>
          <p:cNvSpPr txBox="1"/>
          <p:nvPr/>
        </p:nvSpPr>
        <p:spPr>
          <a:xfrm rot="0">
            <a:off x="10581539" y="8500878"/>
            <a:ext cx="5304985"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INTRODUCCION A LA ING. DE SISTEMAS</a:t>
            </a:r>
          </a:p>
        </p:txBody>
      </p:sp>
      <p:sp>
        <p:nvSpPr>
          <p:cNvPr id="1048648" name="TextBox 17"/>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PRESENTACION</a:t>
            </a:r>
          </a:p>
        </p:txBody>
      </p:sp>
      <p:sp>
        <p:nvSpPr>
          <p:cNvPr id="1048649" name="TextBox 18"/>
          <p:cNvSpPr txBox="1"/>
          <p:nvPr/>
        </p:nvSpPr>
        <p:spPr>
          <a:xfrm rot="0">
            <a:off x="1386504" y="4350893"/>
            <a:ext cx="7212985" cy="2630677"/>
          </a:xfrm>
          <a:prstGeom prst="rect"/>
        </p:spPr>
        <p:txBody>
          <a:bodyPr anchor="t" bIns="0" lIns="0" rIns="0" rtlCol="0" tIns="0">
            <a:spAutoFit/>
          </a:bodyPr>
          <a:p>
            <a:pPr algn="l">
              <a:lnSpc>
                <a:spcPts val="3919"/>
              </a:lnSpc>
            </a:pPr>
            <a:r>
              <a:rPr sz="2799" lang="en-US">
                <a:solidFill>
                  <a:srgbClr val="4C4A4A"/>
                </a:solidFill>
                <a:latin typeface="TT Commons Pro"/>
                <a:ea typeface="TT Commons Pro"/>
                <a:cs typeface="TT Commons Pro"/>
                <a:sym typeface="TT Commons Pro"/>
              </a:rPr>
              <a:t>Caso: Gestión de Tesis en la UNAC</a:t>
            </a:r>
          </a:p>
          <a:p>
            <a:pPr algn="l">
              <a:lnSpc>
                <a:spcPts val="3359"/>
              </a:lnSpc>
            </a:pPr>
          </a:p>
          <a:p>
            <a:pPr algn="l">
              <a:lnSpc>
                <a:spcPts val="3359"/>
              </a:lnSpc>
            </a:pPr>
            <a:r>
              <a:rPr sz="2400" lang="en-US">
                <a:solidFill>
                  <a:srgbClr val="4C4A4A"/>
                </a:solidFill>
                <a:latin typeface="TT Commons Pro"/>
                <a:ea typeface="TT Commons Pro"/>
                <a:cs typeface="TT Commons Pro"/>
                <a:sym typeface="TT Commons Pro"/>
              </a:rPr>
              <a:t>Sistemas Duros:</a:t>
            </a:r>
          </a:p>
          <a:p>
            <a:pPr algn="l" indent="-259080" lvl="1" marL="518160">
              <a:lnSpc>
                <a:spcPts val="3359"/>
              </a:lnSpc>
              <a:buFont typeface="Arial"/>
              <a:buChar char="•"/>
            </a:pPr>
            <a:r>
              <a:rPr sz="2400" lang="en-US">
                <a:solidFill>
                  <a:srgbClr val="4C4A4A"/>
                </a:solidFill>
                <a:latin typeface="TT Commons Pro"/>
                <a:ea typeface="TT Commons Pro"/>
                <a:cs typeface="TT Commons Pro"/>
                <a:sym typeface="TT Commons Pro"/>
              </a:rPr>
              <a:t>Proceso, Tiempo y Estructura</a:t>
            </a:r>
          </a:p>
          <a:p>
            <a:pPr algn="l">
              <a:lnSpc>
                <a:spcPts val="3359"/>
              </a:lnSpc>
            </a:pPr>
            <a:r>
              <a:rPr sz="2400" lang="en-US">
                <a:solidFill>
                  <a:srgbClr val="4C4A4A"/>
                </a:solidFill>
                <a:latin typeface="TT Commons Pro"/>
                <a:ea typeface="TT Commons Pro"/>
                <a:cs typeface="TT Commons Pro"/>
                <a:sym typeface="TT Commons Pro"/>
              </a:rPr>
              <a:t>Sistemas Blandos:</a:t>
            </a:r>
          </a:p>
          <a:p>
            <a:pPr algn="l" indent="-259080" lvl="1" marL="518160">
              <a:lnSpc>
                <a:spcPts val="3359"/>
              </a:lnSpc>
              <a:buFont typeface="Arial"/>
              <a:buChar char="•"/>
            </a:pPr>
            <a:r>
              <a:rPr sz="2400" lang="en-US">
                <a:solidFill>
                  <a:srgbClr val="4C4A4A"/>
                </a:solidFill>
                <a:latin typeface="TT Commons Pro"/>
                <a:ea typeface="TT Commons Pro"/>
                <a:cs typeface="TT Commons Pro"/>
                <a:sym typeface="TT Commons Pro"/>
              </a:rPr>
              <a:t>Comunicación, Decisiones y Jurado</a:t>
            </a:r>
          </a:p>
        </p:txBody>
      </p:sp>
      <p:sp>
        <p:nvSpPr>
          <p:cNvPr id="1048650" name="TextBox 19"/>
          <p:cNvSpPr txBox="1"/>
          <p:nvPr/>
        </p:nvSpPr>
        <p:spPr>
          <a:xfrm rot="0">
            <a:off x="1386504" y="2116168"/>
            <a:ext cx="7460644" cy="2401570"/>
          </a:xfrm>
          <a:prstGeom prst="rect"/>
        </p:spPr>
        <p:txBody>
          <a:bodyPr anchor="t" bIns="0" lIns="0" rIns="0" rtlCol="0" tIns="0">
            <a:spAutoFit/>
          </a:bodyPr>
          <a:p>
            <a:pPr algn="l">
              <a:lnSpc>
                <a:spcPts val="9455"/>
              </a:lnSpc>
            </a:pPr>
            <a:r>
              <a:rPr sz="6753" lang="en-US" spc="283">
                <a:solidFill>
                  <a:srgbClr val="4C4A4A"/>
                </a:solidFill>
                <a:latin typeface="RQND Pro Condensed"/>
                <a:ea typeface="RQND Pro Condensed"/>
                <a:cs typeface="RQND Pro Condensed"/>
                <a:sym typeface="RQND Pro Condensed"/>
              </a:rPr>
              <a:t>Aplicaciones de los</a:t>
            </a:r>
          </a:p>
        </p:txBody>
      </p:sp>
      <p:sp>
        <p:nvSpPr>
          <p:cNvPr id="1048651" name="Freeform 20"/>
          <p:cNvSpPr/>
          <p:nvPr/>
        </p:nvSpPr>
        <p:spPr>
          <a:xfrm rot="0" flipH="1" flipV="0">
            <a:off x="11201400" y="2249518"/>
            <a:ext cx="5468715" cy="4921843"/>
          </a:xfrm>
          <a:custGeom>
            <a:avLst/>
            <a:ahLst/>
            <a:rect l="l" t="t" r="r" b="b"/>
            <a:pathLst>
              <a:path w="5468715" h="4921843">
                <a:moveTo>
                  <a:pt x="5468715" y="0"/>
                </a:moveTo>
                <a:lnTo>
                  <a:pt x="0" y="0"/>
                </a:lnTo>
                <a:lnTo>
                  <a:pt x="0" y="4921844"/>
                </a:lnTo>
                <a:lnTo>
                  <a:pt x="5468715" y="4921844"/>
                </a:lnTo>
                <a:lnTo>
                  <a:pt x="5468715" y="0"/>
                </a:lnTo>
                <a:close/>
              </a:path>
            </a:pathLst>
          </a:custGeom>
          <a:blipFill>
            <a:blip xmlns:r="http://schemas.openxmlformats.org/officeDocument/2006/relationships" r:embed="rId4"/>
            <a:stretch>
              <a:fillRect l="0" t="0" r="0" b="0"/>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32" name=""/>
        <p:cNvGrpSpPr/>
        <p:nvPr/>
      </p:nvGrpSpPr>
      <p:grpSpPr>
        <a:xfrm>
          <a:off x="0" y="0"/>
          <a:ext cx="0" cy="0"/>
          <a:chOff x="0" y="0"/>
          <a:chExt cx="0" cy="0"/>
        </a:xfrm>
      </p:grpSpPr>
      <p:grpSp>
        <p:nvGrpSpPr>
          <p:cNvPr id="33" name="Group 2"/>
          <p:cNvGrpSpPr/>
          <p:nvPr/>
        </p:nvGrpSpPr>
        <p:grpSpPr>
          <a:xfrm rot="0">
            <a:off x="560181" y="580551"/>
            <a:ext cx="17167638" cy="9125897"/>
            <a:chOff x="0" y="0"/>
            <a:chExt cx="4521518" cy="2403529"/>
          </a:xfrm>
        </p:grpSpPr>
        <p:sp>
          <p:nvSpPr>
            <p:cNvPr id="1048618"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619"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620"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621"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622"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623"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624"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34" name="Group 10"/>
          <p:cNvGrpSpPr/>
          <p:nvPr/>
        </p:nvGrpSpPr>
        <p:grpSpPr>
          <a:xfrm rot="0">
            <a:off x="1485978" y="8180971"/>
            <a:ext cx="1796555" cy="1077329"/>
            <a:chOff x="0" y="0"/>
            <a:chExt cx="6349746" cy="3807714"/>
          </a:xfrm>
        </p:grpSpPr>
        <p:sp>
          <p:nvSpPr>
            <p:cNvPr id="1048625"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626"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627"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628" name="TextBox 14"/>
          <p:cNvSpPr txBox="1"/>
          <p:nvPr/>
        </p:nvSpPr>
        <p:spPr>
          <a:xfrm rot="0">
            <a:off x="1028700" y="2010052"/>
            <a:ext cx="8820689" cy="1625091"/>
          </a:xfrm>
          <a:prstGeom prst="rect"/>
        </p:spPr>
        <p:txBody>
          <a:bodyPr anchor="t" bIns="0" lIns="0" rIns="0" rtlCol="0" tIns="0">
            <a:spAutoFit/>
          </a:bodyPr>
          <a:p>
            <a:pPr algn="l">
              <a:lnSpc>
                <a:spcPts val="12796"/>
              </a:lnSpc>
            </a:pPr>
            <a:r>
              <a:rPr sz="9140" lang="en-US" spc="383">
                <a:solidFill>
                  <a:srgbClr val="4C4A4A"/>
                </a:solidFill>
                <a:latin typeface="RQND Pro Medium"/>
                <a:ea typeface="RQND Pro Medium"/>
                <a:cs typeface="RQND Pro Medium"/>
                <a:sym typeface="RQND Pro Medium"/>
              </a:rPr>
              <a:t>Metodologia</a:t>
            </a:r>
          </a:p>
        </p:txBody>
      </p:sp>
      <p:sp>
        <p:nvSpPr>
          <p:cNvPr id="1048629" name="TextBox 15"/>
          <p:cNvSpPr txBox="1"/>
          <p:nvPr/>
        </p:nvSpPr>
        <p:spPr>
          <a:xfrm rot="0">
            <a:off x="922707" y="881869"/>
            <a:ext cx="5172877"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UNIVERSIDAD NACIONAL DEL CALLAO</a:t>
            </a:r>
          </a:p>
        </p:txBody>
      </p:sp>
      <p:sp>
        <p:nvSpPr>
          <p:cNvPr id="1048630" name="TextBox 16"/>
          <p:cNvSpPr txBox="1"/>
          <p:nvPr/>
        </p:nvSpPr>
        <p:spPr>
          <a:xfrm rot="0">
            <a:off x="10537070" y="8500878"/>
            <a:ext cx="5408745"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INTRODUCCION A LA ING. DE SISTEMAS</a:t>
            </a:r>
          </a:p>
        </p:txBody>
      </p:sp>
      <p:sp>
        <p:nvSpPr>
          <p:cNvPr id="1048631" name="TextBox 17"/>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PRESENTACION</a:t>
            </a:r>
          </a:p>
        </p:txBody>
      </p:sp>
      <p:sp>
        <p:nvSpPr>
          <p:cNvPr id="1048632" name="TextBox 18"/>
          <p:cNvSpPr txBox="1"/>
          <p:nvPr/>
        </p:nvSpPr>
        <p:spPr>
          <a:xfrm rot="0">
            <a:off x="1028700" y="3640505"/>
            <a:ext cx="8169282" cy="3639312"/>
          </a:xfrm>
          <a:prstGeom prst="rect"/>
        </p:spPr>
        <p:txBody>
          <a:bodyPr anchor="t" bIns="0" lIns="0" rIns="0" rtlCol="0" tIns="0">
            <a:spAutoFit/>
          </a:bodyPr>
          <a:p>
            <a:pPr algn="l">
              <a:lnSpc>
                <a:spcPts val="3184"/>
              </a:lnSpc>
            </a:pPr>
            <a:r>
              <a:rPr b="1" sz="2274" lang="en-US">
                <a:solidFill>
                  <a:srgbClr val="4C4A4A"/>
                </a:solidFill>
                <a:latin typeface="TT Commons Pro Bold"/>
                <a:ea typeface="TT Commons Pro Bold"/>
                <a:cs typeface="TT Commons Pro Bold"/>
                <a:sym typeface="TT Commons Pro Bold"/>
              </a:rPr>
              <a:t>• Tipo de investigación:</a:t>
            </a:r>
            <a:r>
              <a:rPr sz="2274" lang="en-US">
                <a:solidFill>
                  <a:srgbClr val="4C4A4A"/>
                </a:solidFill>
                <a:latin typeface="TT Commons Pro"/>
                <a:ea typeface="TT Commons Pro"/>
                <a:cs typeface="TT Commons Pro"/>
                <a:sym typeface="TT Commons Pro"/>
              </a:rPr>
              <a:t> Cualitativa, descriptiva y analítica, orientada a comprender sistemas duros y blandos en la organización.</a:t>
            </a:r>
          </a:p>
          <a:p>
            <a:pPr algn="l">
              <a:lnSpc>
                <a:spcPts val="3184"/>
              </a:lnSpc>
            </a:pPr>
          </a:p>
          <a:p>
            <a:pPr algn="l">
              <a:lnSpc>
                <a:spcPts val="3184"/>
              </a:lnSpc>
            </a:pPr>
            <a:r>
              <a:rPr b="1" sz="2274" lang="en-US">
                <a:solidFill>
                  <a:srgbClr val="4C4A4A"/>
                </a:solidFill>
                <a:latin typeface="TT Commons Pro Bold"/>
                <a:ea typeface="TT Commons Pro Bold"/>
                <a:cs typeface="TT Commons Pro Bold"/>
                <a:sym typeface="TT Commons Pro Bold"/>
              </a:rPr>
              <a:t>• Enfoque sistémico:</a:t>
            </a:r>
            <a:r>
              <a:rPr sz="2274" lang="en-US">
                <a:solidFill>
                  <a:srgbClr val="4C4A4A"/>
                </a:solidFill>
                <a:latin typeface="TT Commons Pro"/>
                <a:ea typeface="TT Commons Pro"/>
                <a:cs typeface="TT Commons Pro"/>
                <a:sym typeface="TT Commons Pro"/>
              </a:rPr>
              <a:t> Basado en la Teoría General de Sistemas, integrando enfoque cuantitativo (duro) e interpretativo (blando).</a:t>
            </a:r>
          </a:p>
          <a:p>
            <a:pPr algn="l">
              <a:lnSpc>
                <a:spcPts val="3184"/>
              </a:lnSpc>
            </a:pPr>
          </a:p>
          <a:p>
            <a:pPr algn="l">
              <a:lnSpc>
                <a:spcPts val="3184"/>
              </a:lnSpc>
            </a:pPr>
            <a:r>
              <a:rPr sz="2274" lang="en-US">
                <a:solidFill>
                  <a:srgbClr val="4C4A4A"/>
                </a:solidFill>
                <a:latin typeface="TT Commons Pro"/>
                <a:ea typeface="TT Commons Pro"/>
                <a:cs typeface="TT Commons Pro"/>
                <a:sym typeface="TT Commons Pro"/>
              </a:rPr>
              <a:t>• </a:t>
            </a:r>
            <a:r>
              <a:rPr b="1" sz="2274" lang="en-US">
                <a:solidFill>
                  <a:srgbClr val="4C4A4A"/>
                </a:solidFill>
                <a:latin typeface="TT Commons Pro Bold"/>
                <a:ea typeface="TT Commons Pro Bold"/>
                <a:cs typeface="TT Commons Pro Bold"/>
                <a:sym typeface="TT Commons Pro Bold"/>
              </a:rPr>
              <a:t>Aplicación al caso:</a:t>
            </a:r>
            <a:r>
              <a:rPr sz="2274" lang="en-US">
                <a:solidFill>
                  <a:srgbClr val="4C4A4A"/>
                </a:solidFill>
                <a:latin typeface="TT Commons Pro"/>
                <a:ea typeface="TT Commons Pro"/>
                <a:cs typeface="TT Commons Pro"/>
                <a:sym typeface="TT Commons Pro"/>
              </a:rPr>
              <a:t> Análisis de la gestión de tesis de forma estructurada y humana, para su comparación</a:t>
            </a:r>
          </a:p>
        </p:txBody>
      </p:sp>
      <p:sp>
        <p:nvSpPr>
          <p:cNvPr id="1048633" name="Freeform 19"/>
          <p:cNvSpPr/>
          <p:nvPr/>
        </p:nvSpPr>
        <p:spPr>
          <a:xfrm rot="0" flipH="1" flipV="0">
            <a:off x="10729768" y="2349480"/>
            <a:ext cx="4524459" cy="4721921"/>
          </a:xfrm>
          <a:custGeom>
            <a:avLst/>
            <a:ahLst/>
            <a:rect l="l" t="t" r="r" b="b"/>
            <a:pathLst>
              <a:path w="4524459" h="4721921">
                <a:moveTo>
                  <a:pt x="4524459" y="0"/>
                </a:moveTo>
                <a:lnTo>
                  <a:pt x="0" y="0"/>
                </a:lnTo>
                <a:lnTo>
                  <a:pt x="0" y="4721921"/>
                </a:lnTo>
                <a:lnTo>
                  <a:pt x="4524459" y="4721921"/>
                </a:lnTo>
                <a:lnTo>
                  <a:pt x="4524459" y="0"/>
                </a:lnTo>
                <a:close/>
              </a:path>
            </a:pathLst>
          </a:custGeom>
          <a:blipFill>
            <a:blip xmlns:r="http://schemas.openxmlformats.org/officeDocument/2006/relationships" r:embed="rId4"/>
            <a:stretch>
              <a:fillRect l="0" t="0" r="0" b="0"/>
            </a:stretch>
          </a:blipFill>
        </p:spPr>
      </p:sp>
      <p:sp>
        <p:nvSpPr>
          <p:cNvPr id="1048634" name="Freeform 20"/>
          <p:cNvSpPr/>
          <p:nvPr/>
        </p:nvSpPr>
        <p:spPr>
          <a:xfrm rot="0" flipH="0" flipV="0">
            <a:off x="13980528" y="3012998"/>
            <a:ext cx="3130251" cy="2805843"/>
          </a:xfrm>
          <a:custGeom>
            <a:avLst/>
            <a:ahLst/>
            <a:rect l="l" t="t" r="r" b="b"/>
            <a:pathLst>
              <a:path w="3130251" h="2805843">
                <a:moveTo>
                  <a:pt x="0" y="0"/>
                </a:moveTo>
                <a:lnTo>
                  <a:pt x="3130250" y="0"/>
                </a:lnTo>
                <a:lnTo>
                  <a:pt x="3130250" y="2805843"/>
                </a:lnTo>
                <a:lnTo>
                  <a:pt x="0" y="2805843"/>
                </a:lnTo>
                <a:lnTo>
                  <a:pt x="0" y="0"/>
                </a:lnTo>
                <a:close/>
              </a:path>
            </a:pathLst>
          </a:custGeom>
          <a:blipFill>
            <a:blip xmlns:r="http://schemas.openxmlformats.org/officeDocument/2006/relationships" r:embed="rId5"/>
            <a:stretch>
              <a:fillRect l="0" t="0" r="0" b="0"/>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29" name=""/>
        <p:cNvGrpSpPr/>
        <p:nvPr/>
      </p:nvGrpSpPr>
      <p:grpSpPr>
        <a:xfrm>
          <a:off x="0" y="0"/>
          <a:ext cx="0" cy="0"/>
          <a:chOff x="0" y="0"/>
          <a:chExt cx="0" cy="0"/>
        </a:xfrm>
      </p:grpSpPr>
      <p:grpSp>
        <p:nvGrpSpPr>
          <p:cNvPr id="30" name="Group 2"/>
          <p:cNvGrpSpPr/>
          <p:nvPr/>
        </p:nvGrpSpPr>
        <p:grpSpPr>
          <a:xfrm rot="0">
            <a:off x="560181" y="580551"/>
            <a:ext cx="17167638" cy="9125897"/>
            <a:chOff x="0" y="0"/>
            <a:chExt cx="4521518" cy="2403529"/>
          </a:xfrm>
        </p:grpSpPr>
        <p:sp>
          <p:nvSpPr>
            <p:cNvPr id="1048600"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601"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602"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603"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604" name="AutoShape 7"/>
          <p:cNvSpPr/>
          <p:nvPr/>
        </p:nvSpPr>
        <p:spPr>
          <a:xfrm flipV="1">
            <a:off x="9948862" y="580551"/>
            <a:ext cx="0" cy="7220907"/>
          </a:xfrm>
          <a:prstGeom prst="line"/>
          <a:ln w="9525" cap="flat">
            <a:solidFill>
              <a:srgbClr val="000000"/>
            </a:solidFill>
            <a:prstDash val="solid"/>
            <a:headEnd type="none" w="sm" len="sm"/>
            <a:tailEnd type="none" w="sm" len="sm"/>
          </a:ln>
        </p:spPr>
      </p:sp>
      <p:sp>
        <p:nvSpPr>
          <p:cNvPr id="1048605"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606" name="Freeform 9"/>
          <p:cNvSpPr/>
          <p:nvPr/>
        </p:nvSpPr>
        <p:spPr>
          <a:xfrm rot="0" flipH="0" flipV="0">
            <a:off x="6230222" y="77555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31" name="Group 10"/>
          <p:cNvGrpSpPr/>
          <p:nvPr/>
        </p:nvGrpSpPr>
        <p:grpSpPr>
          <a:xfrm rot="0">
            <a:off x="1485978" y="8180971"/>
            <a:ext cx="1796555" cy="1077329"/>
            <a:chOff x="0" y="0"/>
            <a:chExt cx="6349746" cy="3807714"/>
          </a:xfrm>
        </p:grpSpPr>
        <p:sp>
          <p:nvSpPr>
            <p:cNvPr id="1048607"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608"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609"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610" name="TextBox 14"/>
          <p:cNvSpPr txBox="1"/>
          <p:nvPr/>
        </p:nvSpPr>
        <p:spPr>
          <a:xfrm rot="0">
            <a:off x="1253722" y="2210671"/>
            <a:ext cx="7890278" cy="1512697"/>
          </a:xfrm>
          <a:prstGeom prst="rect"/>
        </p:spPr>
        <p:txBody>
          <a:bodyPr anchor="t" bIns="0" lIns="0" rIns="0" rtlCol="0" tIns="0">
            <a:spAutoFit/>
          </a:bodyPr>
          <a:p>
            <a:pPr algn="l">
              <a:lnSpc>
                <a:spcPts val="11911"/>
              </a:lnSpc>
            </a:pPr>
            <a:r>
              <a:rPr sz="8508" lang="en-US" spc="357">
                <a:solidFill>
                  <a:srgbClr val="4C4A4A"/>
                </a:solidFill>
                <a:latin typeface="RQND Pro Medium"/>
                <a:ea typeface="RQND Pro Medium"/>
                <a:cs typeface="RQND Pro Medium"/>
                <a:sym typeface="RQND Pro Medium"/>
              </a:rPr>
              <a:t>Conclusiones</a:t>
            </a:r>
          </a:p>
        </p:txBody>
      </p:sp>
      <p:sp>
        <p:nvSpPr>
          <p:cNvPr id="1048611" name="TextBox 15"/>
          <p:cNvSpPr txBox="1"/>
          <p:nvPr/>
        </p:nvSpPr>
        <p:spPr>
          <a:xfrm rot="0">
            <a:off x="924940" y="881869"/>
            <a:ext cx="5113585"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UNIVERSIDAD NACIONAL DEL CALLAO</a:t>
            </a:r>
          </a:p>
        </p:txBody>
      </p:sp>
      <p:sp>
        <p:nvSpPr>
          <p:cNvPr id="1048612" name="TextBox 16"/>
          <p:cNvSpPr txBox="1"/>
          <p:nvPr/>
        </p:nvSpPr>
        <p:spPr>
          <a:xfrm rot="0">
            <a:off x="10566716" y="8500878"/>
            <a:ext cx="5275339"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INTRODUCCION A LA ING. DE SISTEMAS</a:t>
            </a:r>
          </a:p>
        </p:txBody>
      </p:sp>
      <p:sp>
        <p:nvSpPr>
          <p:cNvPr id="1048613" name="TextBox 17"/>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PRESENTACION</a:t>
            </a:r>
          </a:p>
        </p:txBody>
      </p:sp>
      <p:sp>
        <p:nvSpPr>
          <p:cNvPr id="1048614" name="TextBox 18"/>
          <p:cNvSpPr txBox="1"/>
          <p:nvPr/>
        </p:nvSpPr>
        <p:spPr>
          <a:xfrm rot="0">
            <a:off x="1253722" y="3947183"/>
            <a:ext cx="7212985" cy="2399665"/>
          </a:xfrm>
          <a:prstGeom prst="rect"/>
        </p:spPr>
        <p:txBody>
          <a:bodyPr anchor="t" bIns="0" lIns="0" rIns="0" rtlCol="0" tIns="0">
            <a:spAutoFit/>
          </a:bodyPr>
          <a:p>
            <a:pPr algn="l">
              <a:lnSpc>
                <a:spcPts val="3779"/>
              </a:lnSpc>
            </a:pPr>
            <a:r>
              <a:rPr sz="2699" lang="en-US">
                <a:solidFill>
                  <a:srgbClr val="4C4A4A"/>
                </a:solidFill>
                <a:latin typeface="TT Commons Pro"/>
                <a:ea typeface="TT Commons Pro"/>
                <a:cs typeface="TT Commons Pro"/>
                <a:sym typeface="TT Commons Pro"/>
              </a:rPr>
              <a:t>Ambos enfoques son complementarios</a:t>
            </a:r>
          </a:p>
          <a:p>
            <a:pPr algn="l" indent="-291464" lvl="1" marL="582928">
              <a:lnSpc>
                <a:spcPts val="3779"/>
              </a:lnSpc>
              <a:buFont typeface="Arial"/>
              <a:buChar char="•"/>
            </a:pPr>
            <a:r>
              <a:rPr sz="2699" lang="en-US">
                <a:solidFill>
                  <a:srgbClr val="4C4A4A"/>
                </a:solidFill>
                <a:latin typeface="TT Commons Pro"/>
                <a:ea typeface="TT Commons Pro"/>
                <a:cs typeface="TT Commons Pro"/>
                <a:sym typeface="TT Commons Pro"/>
              </a:rPr>
              <a:t>Lo cual permiten una visión más completa</a:t>
            </a:r>
          </a:p>
          <a:p>
            <a:pPr algn="l">
              <a:lnSpc>
                <a:spcPts val="3779"/>
              </a:lnSpc>
            </a:pPr>
            <a:r>
              <a:rPr sz="2699" lang="en-US">
                <a:solidFill>
                  <a:srgbClr val="4C4A4A"/>
                </a:solidFill>
                <a:latin typeface="TT Commons Pro"/>
                <a:ea typeface="TT Commons Pro"/>
                <a:cs typeface="TT Commons Pro"/>
                <a:sym typeface="TT Commons Pro"/>
              </a:rPr>
              <a:t>Clave para mejorar organizaciones:</a:t>
            </a:r>
          </a:p>
          <a:p>
            <a:pPr algn="l" indent="-291464" lvl="1" marL="582928">
              <a:lnSpc>
                <a:spcPts val="3779"/>
              </a:lnSpc>
              <a:buFont typeface="Arial"/>
              <a:buChar char="•"/>
            </a:pPr>
            <a:r>
              <a:rPr sz="2699" lang="en-US">
                <a:solidFill>
                  <a:srgbClr val="4C4A4A"/>
                </a:solidFill>
                <a:latin typeface="TT Commons Pro"/>
                <a:ea typeface="TT Commons Pro"/>
                <a:cs typeface="TT Commons Pro"/>
                <a:sym typeface="TT Commons Pro"/>
              </a:rPr>
              <a:t>Integrar lo técnico + lo humano</a:t>
            </a:r>
          </a:p>
          <a:p>
            <a:pPr algn="l">
              <a:lnSpc>
                <a:spcPts val="3779"/>
              </a:lnSpc>
            </a:pPr>
          </a:p>
        </p:txBody>
      </p:sp>
      <p:sp>
        <p:nvSpPr>
          <p:cNvPr id="1048615" name="Freeform 19"/>
          <p:cNvSpPr/>
          <p:nvPr/>
        </p:nvSpPr>
        <p:spPr>
          <a:xfrm rot="0" flipH="0" flipV="0">
            <a:off x="15173133" y="2348741"/>
            <a:ext cx="1337844" cy="2061104"/>
          </a:xfrm>
          <a:custGeom>
            <a:avLst/>
            <a:ahLst/>
            <a:rect l="l" t="t" r="r" b="b"/>
            <a:pathLst>
              <a:path w="1337844" h="2061104">
                <a:moveTo>
                  <a:pt x="0" y="0"/>
                </a:moveTo>
                <a:lnTo>
                  <a:pt x="1337844" y="0"/>
                </a:lnTo>
                <a:lnTo>
                  <a:pt x="1337844" y="2061104"/>
                </a:lnTo>
                <a:lnTo>
                  <a:pt x="0" y="2061104"/>
                </a:lnTo>
                <a:lnTo>
                  <a:pt x="0" y="0"/>
                </a:lnTo>
                <a:close/>
              </a:path>
            </a:pathLst>
          </a:custGeom>
          <a:blipFill>
            <a:blip xmlns:r="http://schemas.openxmlformats.org/officeDocument/2006/relationships" r:embed="rId4"/>
            <a:stretch>
              <a:fillRect l="0" t="0" r="0" b="0"/>
            </a:stretch>
          </a:blipFill>
        </p:spPr>
      </p:sp>
      <p:sp>
        <p:nvSpPr>
          <p:cNvPr id="1048616" name="Freeform 20"/>
          <p:cNvSpPr/>
          <p:nvPr/>
        </p:nvSpPr>
        <p:spPr>
          <a:xfrm rot="0" flipH="0" flipV="0">
            <a:off x="10879103" y="2226639"/>
            <a:ext cx="3639898" cy="4967603"/>
          </a:xfrm>
          <a:custGeom>
            <a:avLst/>
            <a:ahLst/>
            <a:rect l="l" t="t" r="r" b="b"/>
            <a:pathLst>
              <a:path w="3639898" h="4967603">
                <a:moveTo>
                  <a:pt x="0" y="0"/>
                </a:moveTo>
                <a:lnTo>
                  <a:pt x="3639898" y="0"/>
                </a:lnTo>
                <a:lnTo>
                  <a:pt x="3639898" y="4967603"/>
                </a:lnTo>
                <a:lnTo>
                  <a:pt x="0" y="4967603"/>
                </a:lnTo>
                <a:lnTo>
                  <a:pt x="0" y="0"/>
                </a:lnTo>
                <a:close/>
              </a:path>
            </a:pathLst>
          </a:custGeom>
          <a:blipFill>
            <a:blip xmlns:r="http://schemas.openxmlformats.org/officeDocument/2006/relationships" r:embed="rId5"/>
            <a:stretch>
              <a:fillRect l="0" t="0" r="0" b="0"/>
            </a:stretch>
          </a:blipFill>
        </p:spPr>
      </p:sp>
      <p:sp>
        <p:nvSpPr>
          <p:cNvPr id="1048617" name="Freeform 21"/>
          <p:cNvSpPr/>
          <p:nvPr/>
        </p:nvSpPr>
        <p:spPr>
          <a:xfrm rot="0" flipH="0" flipV="0">
            <a:off x="14385878" y="5305290"/>
            <a:ext cx="2596816" cy="1595960"/>
          </a:xfrm>
          <a:custGeom>
            <a:avLst/>
            <a:ahLst/>
            <a:rect l="l" t="t" r="r" b="b"/>
            <a:pathLst>
              <a:path w="2596816" h="1595960">
                <a:moveTo>
                  <a:pt x="0" y="0"/>
                </a:moveTo>
                <a:lnTo>
                  <a:pt x="2596816" y="0"/>
                </a:lnTo>
                <a:lnTo>
                  <a:pt x="2596816" y="1595960"/>
                </a:lnTo>
                <a:lnTo>
                  <a:pt x="0" y="1595960"/>
                </a:lnTo>
                <a:lnTo>
                  <a:pt x="0" y="0"/>
                </a:lnTo>
                <a:close/>
              </a:path>
            </a:pathLst>
          </a:custGeom>
          <a:blipFill>
            <a:blip xmlns:r="http://schemas.openxmlformats.org/officeDocument/2006/relationships" r:embed="rId6"/>
            <a:stretch>
              <a:fillRect l="0" t="0" r="0" b="0"/>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7F3"/>
        </a:solidFill>
      </p:bgPr>
    </p:bg>
    <p:spTree>
      <p:nvGrpSpPr>
        <p:cNvPr id="26" name=""/>
        <p:cNvGrpSpPr/>
        <p:nvPr/>
      </p:nvGrpSpPr>
      <p:grpSpPr>
        <a:xfrm>
          <a:off x="0" y="0"/>
          <a:ext cx="0" cy="0"/>
          <a:chOff x="0" y="0"/>
          <a:chExt cx="0" cy="0"/>
        </a:xfrm>
      </p:grpSpPr>
      <p:grpSp>
        <p:nvGrpSpPr>
          <p:cNvPr id="27" name="Group 2"/>
          <p:cNvGrpSpPr/>
          <p:nvPr/>
        </p:nvGrpSpPr>
        <p:grpSpPr>
          <a:xfrm rot="0">
            <a:off x="560181" y="580551"/>
            <a:ext cx="17167638" cy="9125897"/>
            <a:chOff x="0" y="0"/>
            <a:chExt cx="4521518" cy="2403529"/>
          </a:xfrm>
        </p:grpSpPr>
        <p:sp>
          <p:nvSpPr>
            <p:cNvPr id="1048584" name="Freeform 3"/>
            <p:cNvSpPr/>
            <p:nvPr/>
          </p:nvSpPr>
          <p:spPr>
            <a:xfrm rot="0" flipH="0" flipV="0">
              <a:off x="0" y="0"/>
              <a:ext cx="4521518" cy="2403528"/>
            </a:xfrm>
            <a:custGeom>
              <a:avLst/>
              <a:ahLst/>
              <a:rect l="l" t="t" r="r" b="b"/>
              <a:pathLst>
                <a:path w="4521518" h="2403528">
                  <a:moveTo>
                    <a:pt x="0" y="0"/>
                  </a:moveTo>
                  <a:lnTo>
                    <a:pt x="4521518" y="0"/>
                  </a:lnTo>
                  <a:lnTo>
                    <a:pt x="4521518" y="2403528"/>
                  </a:lnTo>
                  <a:lnTo>
                    <a:pt x="0" y="2403528"/>
                  </a:lnTo>
                  <a:close/>
                </a:path>
              </a:pathLst>
            </a:custGeom>
            <a:ln w="9525" cap="sq">
              <a:solidFill>
                <a:srgbClr val="000000"/>
              </a:solidFill>
              <a:prstDash val="solid"/>
              <a:miter/>
            </a:ln>
          </p:spPr>
        </p:sp>
        <p:sp>
          <p:nvSpPr>
            <p:cNvPr id="1048585" name="TextBox 4"/>
            <p:cNvSpPr txBox="1"/>
            <p:nvPr/>
          </p:nvSpPr>
          <p:spPr>
            <a:xfrm>
              <a:off x="0" y="-38100"/>
              <a:ext cx="4521518" cy="2441629"/>
            </a:xfrm>
            <a:prstGeom prst="rect"/>
          </p:spPr>
          <p:txBody>
            <a:bodyPr anchor="ctr" bIns="50800" lIns="50800" rIns="50800" rtlCol="0" tIns="50800"/>
            <a:p>
              <a:pPr algn="ctr">
                <a:lnSpc>
                  <a:spcPts val="2752"/>
                </a:lnSpc>
              </a:pPr>
            </a:p>
          </p:txBody>
        </p:sp>
      </p:grpSp>
      <p:sp>
        <p:nvSpPr>
          <p:cNvPr id="1048586" name="AutoShape 5"/>
          <p:cNvSpPr/>
          <p:nvPr/>
        </p:nvSpPr>
        <p:spPr>
          <a:xfrm>
            <a:off x="560181" y="1619422"/>
            <a:ext cx="17167638" cy="0"/>
          </a:xfrm>
          <a:prstGeom prst="line"/>
          <a:ln w="9525" cap="flat">
            <a:solidFill>
              <a:srgbClr val="000000"/>
            </a:solidFill>
            <a:prstDash val="solid"/>
            <a:headEnd type="none" w="sm" len="sm"/>
            <a:tailEnd type="none" w="sm" len="sm"/>
          </a:ln>
        </p:spPr>
      </p:sp>
      <p:sp>
        <p:nvSpPr>
          <p:cNvPr id="1048587" name="AutoShape 6"/>
          <p:cNvSpPr/>
          <p:nvPr/>
        </p:nvSpPr>
        <p:spPr>
          <a:xfrm>
            <a:off x="560181" y="7801459"/>
            <a:ext cx="17167638" cy="0"/>
          </a:xfrm>
          <a:prstGeom prst="line"/>
          <a:ln w="9525" cap="flat">
            <a:solidFill>
              <a:srgbClr val="000000"/>
            </a:solidFill>
            <a:prstDash val="solid"/>
            <a:headEnd type="none" w="sm" len="sm"/>
            <a:tailEnd type="none" w="sm" len="sm"/>
          </a:ln>
        </p:spPr>
      </p:sp>
      <p:sp>
        <p:nvSpPr>
          <p:cNvPr id="1048588" name="AutoShape 7"/>
          <p:cNvSpPr/>
          <p:nvPr/>
        </p:nvSpPr>
        <p:spPr>
          <a:xfrm flipV="1">
            <a:off x="10725005" y="580551"/>
            <a:ext cx="0" cy="7220907"/>
          </a:xfrm>
          <a:prstGeom prst="line"/>
          <a:ln w="9525" cap="flat">
            <a:solidFill>
              <a:srgbClr val="000000"/>
            </a:solidFill>
            <a:prstDash val="solid"/>
            <a:headEnd type="none" w="sm" len="sm"/>
            <a:tailEnd type="none" w="sm" len="sm"/>
          </a:ln>
        </p:spPr>
      </p:sp>
      <p:sp>
        <p:nvSpPr>
          <p:cNvPr id="1048589" name="Freeform 8"/>
          <p:cNvSpPr/>
          <p:nvPr/>
        </p:nvSpPr>
        <p:spPr>
          <a:xfrm rot="0" flipH="0" flipV="0">
            <a:off x="9944100" y="8180971"/>
            <a:ext cx="7315200" cy="1077329"/>
          </a:xfrm>
          <a:custGeom>
            <a:avLst/>
            <a:ahLst/>
            <a:rect l="l" t="t" r="r" b="b"/>
            <a:pathLst>
              <a:path w="7315200" h="1077329">
                <a:moveTo>
                  <a:pt x="0" y="0"/>
                </a:moveTo>
                <a:lnTo>
                  <a:pt x="7315200" y="0"/>
                </a:lnTo>
                <a:lnTo>
                  <a:pt x="7315200" y="1077329"/>
                </a:lnTo>
                <a:lnTo>
                  <a:pt x="0" y="1077329"/>
                </a:lnTo>
                <a:lnTo>
                  <a:pt x="0" y="0"/>
                </a:lnTo>
                <a:close/>
              </a:path>
            </a:pathLst>
          </a:custGeom>
          <a:blipFill>
            <a:blip xmlns:r="http://schemas.openxmlformats.org/officeDocument/2006/relationships" r:embed="rId1"/>
            <a:stretch>
              <a:fillRect l="0" t="0" r="0" b="0"/>
            </a:stretch>
          </a:blipFill>
        </p:spPr>
      </p:sp>
      <p:sp>
        <p:nvSpPr>
          <p:cNvPr id="1048590" name="Freeform 9"/>
          <p:cNvSpPr/>
          <p:nvPr/>
        </p:nvSpPr>
        <p:spPr>
          <a:xfrm rot="0" flipH="0" flipV="0">
            <a:off x="6674688" y="807548"/>
            <a:ext cx="3146034" cy="600607"/>
          </a:xfrm>
          <a:custGeom>
            <a:avLst/>
            <a:ahLst/>
            <a:rect l="l" t="t" r="r" b="b"/>
            <a:pathLst>
              <a:path w="3146034" h="600607">
                <a:moveTo>
                  <a:pt x="0" y="0"/>
                </a:moveTo>
                <a:lnTo>
                  <a:pt x="3146034" y="0"/>
                </a:lnTo>
                <a:lnTo>
                  <a:pt x="3146034" y="600607"/>
                </a:lnTo>
                <a:lnTo>
                  <a:pt x="0" y="600607"/>
                </a:lnTo>
                <a:lnTo>
                  <a:pt x="0" y="0"/>
                </a:lnTo>
                <a:close/>
              </a:path>
            </a:pathLst>
          </a:custGeom>
          <a:blipFill>
            <a:blip xmlns:r="http://schemas.openxmlformats.org/officeDocument/2006/relationships" r:embed="rId2"/>
            <a:stretch>
              <a:fillRect l="0" t="0" r="0" b="0"/>
            </a:stretch>
          </a:blipFill>
        </p:spPr>
      </p:sp>
      <p:grpSp>
        <p:nvGrpSpPr>
          <p:cNvPr id="28" name="Group 10"/>
          <p:cNvGrpSpPr/>
          <p:nvPr/>
        </p:nvGrpSpPr>
        <p:grpSpPr>
          <a:xfrm rot="0">
            <a:off x="1485978" y="8180971"/>
            <a:ext cx="1796555" cy="1077329"/>
            <a:chOff x="0" y="0"/>
            <a:chExt cx="6349746" cy="3807714"/>
          </a:xfrm>
        </p:grpSpPr>
        <p:sp>
          <p:nvSpPr>
            <p:cNvPr id="1048591" name="Freeform 11"/>
            <p:cNvSpPr/>
            <p:nvPr/>
          </p:nvSpPr>
          <p:spPr>
            <a:xfrm rot="0" flipH="0" flipV="0">
              <a:off x="6350" y="6350"/>
              <a:ext cx="6337046" cy="3795014"/>
            </a:xfrm>
            <a:custGeom>
              <a:avLst/>
              <a:ahLst/>
              <a:rect l="l" t="t" r="r" b="b"/>
              <a:pathLst>
                <a:path w="6337046" h="3795014">
                  <a:moveTo>
                    <a:pt x="6337046" y="599567"/>
                  </a:moveTo>
                  <a:lnTo>
                    <a:pt x="6337046" y="3795014"/>
                  </a:lnTo>
                  <a:lnTo>
                    <a:pt x="0" y="3795014"/>
                  </a:lnTo>
                  <a:lnTo>
                    <a:pt x="0" y="254000"/>
                  </a:lnTo>
                  <a:cubicBezTo>
                    <a:pt x="0" y="113792"/>
                    <a:pt x="113665" y="0"/>
                    <a:pt x="254000" y="0"/>
                  </a:cubicBezTo>
                  <a:lnTo>
                    <a:pt x="2426081" y="0"/>
                  </a:lnTo>
                  <a:cubicBezTo>
                    <a:pt x="2566416" y="0"/>
                    <a:pt x="2680081" y="113792"/>
                    <a:pt x="2680081" y="254000"/>
                  </a:cubicBezTo>
                  <a:lnTo>
                    <a:pt x="2680081" y="599567"/>
                  </a:lnTo>
                  <a:lnTo>
                    <a:pt x="6337046" y="599567"/>
                  </a:lnTo>
                  <a:close/>
                </a:path>
              </a:pathLst>
            </a:custGeom>
            <a:solidFill>
              <a:srgbClr val="F2D9D9"/>
            </a:solidFill>
          </p:spPr>
        </p:sp>
        <p:sp>
          <p:nvSpPr>
            <p:cNvPr id="1048592" name="Freeform 12"/>
            <p:cNvSpPr/>
            <p:nvPr/>
          </p:nvSpPr>
          <p:spPr>
            <a:xfrm rot="0" flipH="0" flipV="0">
              <a:off x="0" y="0"/>
              <a:ext cx="6349746" cy="3807714"/>
            </a:xfrm>
            <a:custGeom>
              <a:avLst/>
              <a:ahLst/>
              <a:rect l="l" t="t" r="r" b="b"/>
              <a:pathLst>
                <a:path w="6349746" h="3807714">
                  <a:moveTo>
                    <a:pt x="2692781" y="599567"/>
                  </a:moveTo>
                  <a:lnTo>
                    <a:pt x="2692781" y="260350"/>
                  </a:lnTo>
                  <a:cubicBezTo>
                    <a:pt x="2692781" y="116840"/>
                    <a:pt x="2575941" y="0"/>
                    <a:pt x="2432431" y="0"/>
                  </a:cubicBezTo>
                  <a:lnTo>
                    <a:pt x="260350" y="0"/>
                  </a:lnTo>
                  <a:cubicBezTo>
                    <a:pt x="116840" y="0"/>
                    <a:pt x="0" y="116840"/>
                    <a:pt x="0" y="260350"/>
                  </a:cubicBezTo>
                  <a:lnTo>
                    <a:pt x="0" y="3807714"/>
                  </a:lnTo>
                  <a:lnTo>
                    <a:pt x="6349746" y="3807714"/>
                  </a:lnTo>
                  <a:lnTo>
                    <a:pt x="6349746" y="599567"/>
                  </a:lnTo>
                  <a:lnTo>
                    <a:pt x="2692781" y="599567"/>
                  </a:lnTo>
                  <a:close/>
                  <a:moveTo>
                    <a:pt x="260350" y="12700"/>
                  </a:moveTo>
                  <a:lnTo>
                    <a:pt x="2432431" y="12700"/>
                  </a:lnTo>
                  <a:cubicBezTo>
                    <a:pt x="2568956" y="12700"/>
                    <a:pt x="2680081" y="123825"/>
                    <a:pt x="2680081" y="260350"/>
                  </a:cubicBezTo>
                  <a:lnTo>
                    <a:pt x="2680081" y="612267"/>
                  </a:lnTo>
                  <a:lnTo>
                    <a:pt x="6337046" y="612267"/>
                  </a:lnTo>
                  <a:lnTo>
                    <a:pt x="6337046" y="1199007"/>
                  </a:lnTo>
                  <a:lnTo>
                    <a:pt x="12700" y="1199007"/>
                  </a:lnTo>
                  <a:lnTo>
                    <a:pt x="12700" y="260350"/>
                  </a:lnTo>
                  <a:cubicBezTo>
                    <a:pt x="12700" y="123825"/>
                    <a:pt x="123825" y="12700"/>
                    <a:pt x="260350" y="12700"/>
                  </a:cubicBezTo>
                  <a:close/>
                  <a:moveTo>
                    <a:pt x="12700" y="1211707"/>
                  </a:moveTo>
                  <a:lnTo>
                    <a:pt x="5737606" y="1211707"/>
                  </a:lnTo>
                  <a:lnTo>
                    <a:pt x="5737606" y="3795014"/>
                  </a:lnTo>
                  <a:lnTo>
                    <a:pt x="12700" y="3795014"/>
                  </a:lnTo>
                  <a:lnTo>
                    <a:pt x="12700" y="1211707"/>
                  </a:lnTo>
                  <a:close/>
                  <a:moveTo>
                    <a:pt x="5750306" y="3795014"/>
                  </a:moveTo>
                  <a:lnTo>
                    <a:pt x="5750306" y="1211707"/>
                  </a:lnTo>
                  <a:lnTo>
                    <a:pt x="6337046" y="1211707"/>
                  </a:lnTo>
                  <a:lnTo>
                    <a:pt x="6337046" y="3795014"/>
                  </a:lnTo>
                  <a:lnTo>
                    <a:pt x="5750306" y="3795014"/>
                  </a:lnTo>
                  <a:close/>
                </a:path>
              </a:pathLst>
            </a:custGeom>
            <a:solidFill>
              <a:srgbClr val="4C4A4A"/>
            </a:solidFill>
          </p:spPr>
        </p:sp>
      </p:grpSp>
      <p:sp>
        <p:nvSpPr>
          <p:cNvPr id="1048593" name="Freeform 13"/>
          <p:cNvSpPr/>
          <p:nvPr/>
        </p:nvSpPr>
        <p:spPr>
          <a:xfrm rot="0" flipH="0" flipV="0">
            <a:off x="7023467" y="8180971"/>
            <a:ext cx="2448476" cy="1077329"/>
          </a:xfrm>
          <a:custGeom>
            <a:avLst/>
            <a:ahLst/>
            <a:rect l="l" t="t" r="r" b="b"/>
            <a:pathLst>
              <a:path w="2448476" h="1077329">
                <a:moveTo>
                  <a:pt x="0" y="0"/>
                </a:moveTo>
                <a:lnTo>
                  <a:pt x="2448476" y="0"/>
                </a:lnTo>
                <a:lnTo>
                  <a:pt x="2448476" y="1077329"/>
                </a:lnTo>
                <a:lnTo>
                  <a:pt x="0" y="1077329"/>
                </a:lnTo>
                <a:lnTo>
                  <a:pt x="0" y="0"/>
                </a:lnTo>
                <a:close/>
              </a:path>
            </a:pathLst>
          </a:custGeom>
          <a:blipFill>
            <a:blip xmlns:r="http://schemas.openxmlformats.org/officeDocument/2006/relationships" r:embed="rId3"/>
            <a:stretch>
              <a:fillRect l="0" t="0" r="0" b="0"/>
            </a:stretch>
          </a:blipFill>
        </p:spPr>
      </p:sp>
      <p:sp>
        <p:nvSpPr>
          <p:cNvPr id="1048594" name="TextBox 14"/>
          <p:cNvSpPr txBox="1"/>
          <p:nvPr/>
        </p:nvSpPr>
        <p:spPr>
          <a:xfrm rot="0">
            <a:off x="1485978" y="2843587"/>
            <a:ext cx="8642157" cy="2494788"/>
          </a:xfrm>
          <a:prstGeom prst="rect"/>
        </p:spPr>
        <p:txBody>
          <a:bodyPr anchor="t" bIns="0" lIns="0" rIns="0" rtlCol="0" tIns="0">
            <a:spAutoFit/>
          </a:bodyPr>
          <a:p>
            <a:pPr algn="l">
              <a:lnSpc>
                <a:spcPts val="9822"/>
              </a:lnSpc>
            </a:pPr>
            <a:r>
              <a:rPr sz="11290" lang="en-US" spc="474">
                <a:solidFill>
                  <a:srgbClr val="4C4A4A"/>
                </a:solidFill>
                <a:latin typeface="RQND Pro Medium"/>
                <a:ea typeface="RQND Pro Medium"/>
                <a:cs typeface="RQND Pro Medium"/>
                <a:sym typeface="RQND Pro Medium"/>
              </a:rPr>
              <a:t>Gracias por su atencion</a:t>
            </a:r>
          </a:p>
        </p:txBody>
      </p:sp>
      <p:sp>
        <p:nvSpPr>
          <p:cNvPr id="1048595" name="TextBox 15"/>
          <p:cNvSpPr txBox="1"/>
          <p:nvPr/>
        </p:nvSpPr>
        <p:spPr>
          <a:xfrm rot="0">
            <a:off x="1028700" y="889094"/>
            <a:ext cx="5188710"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UNIVERSIDAD NACIONAL DEL CALLAO</a:t>
            </a:r>
          </a:p>
        </p:txBody>
      </p:sp>
      <p:sp>
        <p:nvSpPr>
          <p:cNvPr id="1048596" name="TextBox 16"/>
          <p:cNvSpPr txBox="1"/>
          <p:nvPr/>
        </p:nvSpPr>
        <p:spPr>
          <a:xfrm rot="0">
            <a:off x="10566716" y="8500878"/>
            <a:ext cx="5379099" cy="361315"/>
          </a:xfrm>
          <a:prstGeom prst="rect"/>
        </p:spPr>
        <p:txBody>
          <a:bodyPr anchor="t" bIns="0" lIns="0" rIns="0" rtlCol="0" tIns="0">
            <a:spAutoFit/>
          </a:bodyPr>
          <a:p>
            <a:pPr algn="l">
              <a:lnSpc>
                <a:spcPts val="2660"/>
              </a:lnSpc>
            </a:pPr>
            <a:r>
              <a:rPr b="1" sz="1900" lang="en-US">
                <a:solidFill>
                  <a:srgbClr val="4C4A4A"/>
                </a:solidFill>
                <a:latin typeface="Arian Bold"/>
                <a:ea typeface="Arian Bold"/>
                <a:cs typeface="Arian Bold"/>
                <a:sym typeface="Arian Bold"/>
              </a:rPr>
              <a:t>INTRODUCCION A LA ING. DE SISTEMAS</a:t>
            </a:r>
          </a:p>
        </p:txBody>
      </p:sp>
      <p:sp>
        <p:nvSpPr>
          <p:cNvPr id="1048597" name="TextBox 17"/>
          <p:cNvSpPr txBox="1"/>
          <p:nvPr/>
        </p:nvSpPr>
        <p:spPr>
          <a:xfrm rot="0">
            <a:off x="13111288" y="832339"/>
            <a:ext cx="3871407" cy="410845"/>
          </a:xfrm>
          <a:prstGeom prst="rect"/>
        </p:spPr>
        <p:txBody>
          <a:bodyPr anchor="t" bIns="0" lIns="0" rIns="0" rtlCol="0" tIns="0">
            <a:spAutoFit/>
          </a:bodyPr>
          <a:p>
            <a:pPr algn="ctr">
              <a:lnSpc>
                <a:spcPts val="3079"/>
              </a:lnSpc>
            </a:pPr>
            <a:r>
              <a:rPr b="1" sz="2199" lang="en-US">
                <a:solidFill>
                  <a:srgbClr val="4C4A4A"/>
                </a:solidFill>
                <a:latin typeface="Arian Bold"/>
                <a:ea typeface="Arian Bold"/>
                <a:cs typeface="Arian Bold"/>
                <a:sym typeface="Arian Bold"/>
              </a:rPr>
              <a:t>PRESENTACION</a:t>
            </a:r>
          </a:p>
        </p:txBody>
      </p:sp>
      <p:sp>
        <p:nvSpPr>
          <p:cNvPr id="1048598" name="Freeform 18"/>
          <p:cNvSpPr/>
          <p:nvPr/>
        </p:nvSpPr>
        <p:spPr>
          <a:xfrm rot="0" flipH="0" flipV="0">
            <a:off x="11389650" y="4257681"/>
            <a:ext cx="4424100" cy="2718811"/>
          </a:xfrm>
          <a:custGeom>
            <a:avLst/>
            <a:ahLst/>
            <a:rect l="l" t="t" r="r" b="b"/>
            <a:pathLst>
              <a:path w="4424100" h="2718811">
                <a:moveTo>
                  <a:pt x="0" y="0"/>
                </a:moveTo>
                <a:lnTo>
                  <a:pt x="4424100" y="0"/>
                </a:lnTo>
                <a:lnTo>
                  <a:pt x="4424100" y="2718811"/>
                </a:lnTo>
                <a:lnTo>
                  <a:pt x="0" y="2718811"/>
                </a:lnTo>
                <a:lnTo>
                  <a:pt x="0" y="0"/>
                </a:lnTo>
                <a:close/>
              </a:path>
            </a:pathLst>
          </a:custGeom>
          <a:blipFill>
            <a:blip xmlns:r="http://schemas.openxmlformats.org/officeDocument/2006/relationships" r:embed="rId4"/>
            <a:stretch>
              <a:fillRect l="0" t="0" r="0" b="0"/>
            </a:stretch>
          </a:blipFill>
        </p:spPr>
      </p:sp>
      <p:sp>
        <p:nvSpPr>
          <p:cNvPr id="1048599" name="Freeform 19"/>
          <p:cNvSpPr/>
          <p:nvPr/>
        </p:nvSpPr>
        <p:spPr>
          <a:xfrm rot="0" flipH="0" flipV="0">
            <a:off x="12692978" y="2270774"/>
            <a:ext cx="4425593" cy="3973814"/>
          </a:xfrm>
          <a:custGeom>
            <a:avLst/>
            <a:ahLst/>
            <a:rect l="l" t="t" r="r" b="b"/>
            <a:pathLst>
              <a:path w="4425593" h="3973814">
                <a:moveTo>
                  <a:pt x="0" y="0"/>
                </a:moveTo>
                <a:lnTo>
                  <a:pt x="4425593" y="0"/>
                </a:lnTo>
                <a:lnTo>
                  <a:pt x="4425593" y="3973814"/>
                </a:lnTo>
                <a:lnTo>
                  <a:pt x="0" y="3973814"/>
                </a:lnTo>
                <a:lnTo>
                  <a:pt x="0" y="0"/>
                </a:lnTo>
                <a:close/>
              </a:path>
            </a:pathLst>
          </a:custGeom>
          <a:blipFill>
            <a:blip xmlns:r="http://schemas.openxmlformats.org/officeDocument/2006/relationships"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Análisis</dc:title>
  <dc:creator>22101316UG</dc:creator>
  <dcterms:created xsi:type="dcterms:W3CDTF">2006-08-16T10:00:00Z</dcterms:created>
  <dcterms:modified xsi:type="dcterms:W3CDTF">2026-04-29T12:40:44Z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895c8353030245c287653af5787da0af</vt:lpwstr>
  </property>
</Properties>
</file>