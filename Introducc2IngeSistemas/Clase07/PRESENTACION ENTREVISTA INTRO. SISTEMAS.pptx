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 Bold" charset="1" panose="00000000000000000000"/>
      <p:regular r:id="rId18"/>
    </p:embeddedFont>
    <p:embeddedFont>
      <p:font typeface="Coco Gothic Heavy" charset="1" panose="00000000000000000000"/>
      <p:regular r:id="rId19"/>
    </p:embeddedFont>
    <p:embeddedFont>
      <p:font typeface="Montaser Arabic" charset="1" panose="00000500000000000000"/>
      <p:regular r:id="rId20"/>
    </p:embeddedFont>
    <p:embeddedFont>
      <p:font typeface="Garet" charset="1" panose="00000000000000000000"/>
      <p:regular r:id="rId21"/>
    </p:embeddedFont>
    <p:embeddedFont>
      <p:font typeface="Coco Gothic Bold" charset="1" panose="00000000000000000000"/>
      <p:regular r:id="rId22"/>
    </p:embeddedFont>
    <p:embeddedFont>
      <p:font typeface="League Spartan" charset="1" panose="00000800000000000000"/>
      <p:regular r:id="rId23"/>
    </p:embeddedFont>
    <p:embeddedFont>
      <p:font typeface="Montaser Arabic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757468">
            <a:off x="-854123" y="7775981"/>
            <a:ext cx="3002857" cy="2964639"/>
          </a:xfrm>
          <a:custGeom>
            <a:avLst/>
            <a:gdLst/>
            <a:ahLst/>
            <a:cxnLst/>
            <a:rect r="r" b="b" t="t" l="l"/>
            <a:pathLst>
              <a:path h="2964639" w="3002857">
                <a:moveTo>
                  <a:pt x="0" y="0"/>
                </a:moveTo>
                <a:lnTo>
                  <a:pt x="3002857" y="0"/>
                </a:lnTo>
                <a:lnTo>
                  <a:pt x="3002857" y="2964638"/>
                </a:lnTo>
                <a:lnTo>
                  <a:pt x="0" y="29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-7894284">
            <a:off x="14998022" y="6816525"/>
            <a:ext cx="2106545" cy="3427809"/>
          </a:xfrm>
          <a:custGeom>
            <a:avLst/>
            <a:gdLst/>
            <a:ahLst/>
            <a:cxnLst/>
            <a:rect r="r" b="b" t="t" l="l"/>
            <a:pathLst>
              <a:path h="3427809" w="2106545">
                <a:moveTo>
                  <a:pt x="2106544" y="0"/>
                </a:moveTo>
                <a:lnTo>
                  <a:pt x="0" y="0"/>
                </a:lnTo>
                <a:lnTo>
                  <a:pt x="0" y="3427810"/>
                </a:lnTo>
                <a:lnTo>
                  <a:pt x="2106544" y="3427810"/>
                </a:lnTo>
                <a:lnTo>
                  <a:pt x="2106544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482529" y="5593680"/>
            <a:ext cx="13322941" cy="3681053"/>
            <a:chOff x="0" y="0"/>
            <a:chExt cx="6409144" cy="1770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9144" cy="1770810"/>
            </a:xfrm>
            <a:custGeom>
              <a:avLst/>
              <a:gdLst/>
              <a:ahLst/>
              <a:cxnLst/>
              <a:rect r="r" b="b" t="t" l="l"/>
              <a:pathLst>
                <a:path h="1770810" w="6409144">
                  <a:moveTo>
                    <a:pt x="6284684" y="1770810"/>
                  </a:moveTo>
                  <a:lnTo>
                    <a:pt x="124460" y="1770810"/>
                  </a:lnTo>
                  <a:cubicBezTo>
                    <a:pt x="55880" y="1770810"/>
                    <a:pt x="0" y="1714930"/>
                    <a:pt x="0" y="16463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284684" y="0"/>
                  </a:lnTo>
                  <a:cubicBezTo>
                    <a:pt x="6353264" y="0"/>
                    <a:pt x="6409144" y="55880"/>
                    <a:pt x="6409144" y="124460"/>
                  </a:cubicBezTo>
                  <a:lnTo>
                    <a:pt x="6409144" y="1646350"/>
                  </a:lnTo>
                  <a:cubicBezTo>
                    <a:pt x="6409144" y="1714930"/>
                    <a:pt x="6353264" y="1770810"/>
                    <a:pt x="6284684" y="17708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800429">
            <a:off x="14535670" y="1433683"/>
            <a:ext cx="3031248" cy="3301359"/>
          </a:xfrm>
          <a:custGeom>
            <a:avLst/>
            <a:gdLst/>
            <a:ahLst/>
            <a:cxnLst/>
            <a:rect r="r" b="b" t="t" l="l"/>
            <a:pathLst>
              <a:path h="3301359" w="3031248">
                <a:moveTo>
                  <a:pt x="0" y="0"/>
                </a:moveTo>
                <a:lnTo>
                  <a:pt x="3031248" y="0"/>
                </a:lnTo>
                <a:lnTo>
                  <a:pt x="3031248" y="3301359"/>
                </a:lnTo>
                <a:lnTo>
                  <a:pt x="0" y="3301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10142" y="7654130"/>
            <a:ext cx="9467717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0"/>
              </a:lnSpc>
            </a:pPr>
            <a:r>
              <a:rPr lang="en-US" b="true" sz="3000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a un profesional en la rama de Ingeniería de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1168" y="6489606"/>
            <a:ext cx="12061727" cy="143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00"/>
              </a:lnSpc>
            </a:pPr>
            <a:r>
              <a:rPr lang="en-US" b="true" sz="11000" spc="-693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Entrevista</a:t>
            </a:r>
          </a:p>
        </p:txBody>
      </p:sp>
      <p:sp>
        <p:nvSpPr>
          <p:cNvPr name="AutoShape 9" id="9"/>
          <p:cNvSpPr/>
          <p:nvPr/>
        </p:nvSpPr>
        <p:spPr>
          <a:xfrm>
            <a:off x="2482529" y="5694221"/>
            <a:ext cx="13322941" cy="0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true" flipV="true" rot="-1284402">
            <a:off x="1174655" y="1582417"/>
            <a:ext cx="3713026" cy="3591508"/>
          </a:xfrm>
          <a:custGeom>
            <a:avLst/>
            <a:gdLst/>
            <a:ahLst/>
            <a:cxnLst/>
            <a:rect r="r" b="b" t="t" l="l"/>
            <a:pathLst>
              <a:path h="3591508" w="3713026">
                <a:moveTo>
                  <a:pt x="3713026" y="3591509"/>
                </a:moveTo>
                <a:lnTo>
                  <a:pt x="0" y="3591509"/>
                </a:lnTo>
                <a:lnTo>
                  <a:pt x="0" y="0"/>
                </a:lnTo>
                <a:lnTo>
                  <a:pt x="3713026" y="0"/>
                </a:lnTo>
                <a:lnTo>
                  <a:pt x="3713026" y="3591509"/>
                </a:lnTo>
                <a:close/>
              </a:path>
            </a:pathLst>
          </a:custGeom>
          <a:blipFill>
            <a:blip r:embed="rId8">
              <a:alphaModFix amt="1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3966782" y="0"/>
            <a:ext cx="10103388" cy="5040212"/>
          </a:xfrm>
          <a:custGeom>
            <a:avLst/>
            <a:gdLst/>
            <a:ahLst/>
            <a:cxnLst/>
            <a:rect r="r" b="b" t="t" l="l"/>
            <a:pathLst>
              <a:path h="5040212" w="10103388">
                <a:moveTo>
                  <a:pt x="0" y="0"/>
                </a:moveTo>
                <a:lnTo>
                  <a:pt x="10103388" y="0"/>
                </a:lnTo>
                <a:lnTo>
                  <a:pt x="10103388" y="5040212"/>
                </a:lnTo>
                <a:lnTo>
                  <a:pt x="0" y="5040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517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09990" y="8625736"/>
            <a:ext cx="48680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9324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Universidad Nacional del Callao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24139">
            <a:off x="8940322" y="-1068233"/>
            <a:ext cx="2473498" cy="4318292"/>
          </a:xfrm>
          <a:custGeom>
            <a:avLst/>
            <a:gdLst/>
            <a:ahLst/>
            <a:cxnLst/>
            <a:rect r="r" b="b" t="t" l="l"/>
            <a:pathLst>
              <a:path h="4318292" w="2473498">
                <a:moveTo>
                  <a:pt x="0" y="0"/>
                </a:moveTo>
                <a:lnTo>
                  <a:pt x="2473497" y="0"/>
                </a:lnTo>
                <a:lnTo>
                  <a:pt x="2473497" y="4318293"/>
                </a:lnTo>
                <a:lnTo>
                  <a:pt x="0" y="4318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156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90027">
            <a:off x="5029115" y="6106664"/>
            <a:ext cx="3142634" cy="5201765"/>
          </a:xfrm>
          <a:custGeom>
            <a:avLst/>
            <a:gdLst/>
            <a:ahLst/>
            <a:cxnLst/>
            <a:rect r="r" b="b" t="t" l="l"/>
            <a:pathLst>
              <a:path h="5201765" w="3142634">
                <a:moveTo>
                  <a:pt x="0" y="0"/>
                </a:moveTo>
                <a:lnTo>
                  <a:pt x="3142634" y="0"/>
                </a:lnTo>
                <a:lnTo>
                  <a:pt x="3142634" y="5201764"/>
                </a:lnTo>
                <a:lnTo>
                  <a:pt x="0" y="52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318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706722" y="1581845"/>
            <a:ext cx="12874557" cy="7676455"/>
          </a:xfrm>
          <a:custGeom>
            <a:avLst/>
            <a:gdLst/>
            <a:ahLst/>
            <a:cxnLst/>
            <a:rect r="r" b="b" t="t" l="l"/>
            <a:pathLst>
              <a:path h="7676455" w="12874557">
                <a:moveTo>
                  <a:pt x="0" y="0"/>
                </a:moveTo>
                <a:lnTo>
                  <a:pt x="12874556" y="0"/>
                </a:lnTo>
                <a:lnTo>
                  <a:pt x="12874556" y="7676455"/>
                </a:lnTo>
                <a:lnTo>
                  <a:pt x="0" y="7676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486483" y="4126510"/>
            <a:ext cx="4801517" cy="6160490"/>
          </a:xfrm>
          <a:custGeom>
            <a:avLst/>
            <a:gdLst/>
            <a:ahLst/>
            <a:cxnLst/>
            <a:rect r="r" b="b" t="t" l="l"/>
            <a:pathLst>
              <a:path h="6160490" w="4801517">
                <a:moveTo>
                  <a:pt x="4801517" y="0"/>
                </a:moveTo>
                <a:lnTo>
                  <a:pt x="0" y="0"/>
                </a:lnTo>
                <a:lnTo>
                  <a:pt x="0" y="6160490"/>
                </a:lnTo>
                <a:lnTo>
                  <a:pt x="4801517" y="6160490"/>
                </a:lnTo>
                <a:lnTo>
                  <a:pt x="48015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5818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471" y="1516811"/>
            <a:ext cx="4944681" cy="8770189"/>
          </a:xfrm>
          <a:custGeom>
            <a:avLst/>
            <a:gdLst/>
            <a:ahLst/>
            <a:cxnLst/>
            <a:rect r="r" b="b" t="t" l="l"/>
            <a:pathLst>
              <a:path h="8770189" w="4944681">
                <a:moveTo>
                  <a:pt x="0" y="0"/>
                </a:moveTo>
                <a:lnTo>
                  <a:pt x="4944681" y="0"/>
                </a:lnTo>
                <a:lnTo>
                  <a:pt x="4944681" y="8770189"/>
                </a:lnTo>
                <a:lnTo>
                  <a:pt x="0" y="8770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284" t="0" r="0" b="-2617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4729758" y="370066"/>
            <a:ext cx="3928818" cy="3187667"/>
          </a:xfrm>
          <a:custGeom>
            <a:avLst/>
            <a:gdLst/>
            <a:ahLst/>
            <a:cxnLst/>
            <a:rect r="r" b="b" t="t" l="l"/>
            <a:pathLst>
              <a:path h="3187667" w="3928818">
                <a:moveTo>
                  <a:pt x="0" y="0"/>
                </a:moveTo>
                <a:lnTo>
                  <a:pt x="3928817" y="0"/>
                </a:lnTo>
                <a:lnTo>
                  <a:pt x="3928817" y="3187667"/>
                </a:lnTo>
                <a:lnTo>
                  <a:pt x="0" y="3187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1539" t="-32387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4706098" cy="1811176"/>
          </a:xfrm>
          <a:custGeom>
            <a:avLst/>
            <a:gdLst/>
            <a:ahLst/>
            <a:cxnLst/>
            <a:rect r="r" b="b" t="t" l="l"/>
            <a:pathLst>
              <a:path h="1811176" w="4706098">
                <a:moveTo>
                  <a:pt x="0" y="0"/>
                </a:moveTo>
                <a:lnTo>
                  <a:pt x="4706098" y="0"/>
                </a:lnTo>
                <a:lnTo>
                  <a:pt x="4706098" y="1811176"/>
                </a:lnTo>
                <a:lnTo>
                  <a:pt x="0" y="1811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260" t="-208176" r="-1325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541932" y="3972877"/>
            <a:ext cx="8255590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</a:p>
          <a:p>
            <a:pPr algn="l" marL="582930" indent="-291465" lvl="1">
              <a:lnSpc>
                <a:spcPts val="3104"/>
              </a:lnSpc>
              <a:buFont typeface="Arial"/>
              <a:buChar char="•"/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Flores Tarmeño Pedro Luis</a:t>
            </a:r>
          </a:p>
          <a:p>
            <a:pPr algn="l" marL="582930" indent="-291465" lvl="1">
              <a:lnSpc>
                <a:spcPts val="3104"/>
              </a:lnSpc>
              <a:buFont typeface="Arial"/>
              <a:buChar char="•"/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Miranda Peso Jesús Eduardo </a:t>
            </a:r>
          </a:p>
          <a:p>
            <a:pPr algn="l" marL="582930" indent="-291465" lvl="1">
              <a:lnSpc>
                <a:spcPts val="3104"/>
              </a:lnSpc>
              <a:buFont typeface="Arial"/>
              <a:buChar char="•"/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Bernal Perez Stefhano Maximo</a:t>
            </a:r>
          </a:p>
          <a:p>
            <a:pPr algn="l" marL="582930" indent="-291465" lvl="1">
              <a:lnSpc>
                <a:spcPts val="3104"/>
              </a:lnSpc>
              <a:buFont typeface="Arial"/>
              <a:buChar char="•"/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Villanueva Portella Jhon Gesell</a:t>
            </a:r>
          </a:p>
          <a:p>
            <a:pPr algn="l" marL="582930" indent="-291465" lvl="1">
              <a:lnSpc>
                <a:spcPts val="3104"/>
              </a:lnSpc>
              <a:buFont typeface="Arial"/>
              <a:buChar char="•"/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Toledo Pacheco Anthony del Piero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56360" y="2945410"/>
            <a:ext cx="825559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Integrantes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497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24139">
            <a:off x="8940322" y="-1068233"/>
            <a:ext cx="2473498" cy="4318292"/>
          </a:xfrm>
          <a:custGeom>
            <a:avLst/>
            <a:gdLst/>
            <a:ahLst/>
            <a:cxnLst/>
            <a:rect r="r" b="b" t="t" l="l"/>
            <a:pathLst>
              <a:path h="4318292" w="2473498">
                <a:moveTo>
                  <a:pt x="0" y="0"/>
                </a:moveTo>
                <a:lnTo>
                  <a:pt x="2473497" y="0"/>
                </a:lnTo>
                <a:lnTo>
                  <a:pt x="2473497" y="4318293"/>
                </a:lnTo>
                <a:lnTo>
                  <a:pt x="0" y="4318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1568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590027">
            <a:off x="5029115" y="6106664"/>
            <a:ext cx="3142634" cy="5201765"/>
          </a:xfrm>
          <a:custGeom>
            <a:avLst/>
            <a:gdLst/>
            <a:ahLst/>
            <a:cxnLst/>
            <a:rect r="r" b="b" t="t" l="l"/>
            <a:pathLst>
              <a:path h="5201765" w="3142634">
                <a:moveTo>
                  <a:pt x="0" y="0"/>
                </a:moveTo>
                <a:lnTo>
                  <a:pt x="3142634" y="0"/>
                </a:lnTo>
                <a:lnTo>
                  <a:pt x="3142634" y="5201764"/>
                </a:lnTo>
                <a:lnTo>
                  <a:pt x="0" y="52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318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706722" y="1581845"/>
            <a:ext cx="12874557" cy="7676455"/>
          </a:xfrm>
          <a:custGeom>
            <a:avLst/>
            <a:gdLst/>
            <a:ahLst/>
            <a:cxnLst/>
            <a:rect r="r" b="b" t="t" l="l"/>
            <a:pathLst>
              <a:path h="7676455" w="12874557">
                <a:moveTo>
                  <a:pt x="0" y="0"/>
                </a:moveTo>
                <a:lnTo>
                  <a:pt x="12874556" y="0"/>
                </a:lnTo>
                <a:lnTo>
                  <a:pt x="12874556" y="7676455"/>
                </a:lnTo>
                <a:lnTo>
                  <a:pt x="0" y="7676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486483" y="4126510"/>
            <a:ext cx="4801517" cy="6160490"/>
          </a:xfrm>
          <a:custGeom>
            <a:avLst/>
            <a:gdLst/>
            <a:ahLst/>
            <a:cxnLst/>
            <a:rect r="r" b="b" t="t" l="l"/>
            <a:pathLst>
              <a:path h="6160490" w="4801517">
                <a:moveTo>
                  <a:pt x="4801517" y="0"/>
                </a:moveTo>
                <a:lnTo>
                  <a:pt x="0" y="0"/>
                </a:lnTo>
                <a:lnTo>
                  <a:pt x="0" y="6160490"/>
                </a:lnTo>
                <a:lnTo>
                  <a:pt x="4801517" y="6160490"/>
                </a:lnTo>
                <a:lnTo>
                  <a:pt x="48015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5818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471" y="1516811"/>
            <a:ext cx="4944681" cy="8770189"/>
          </a:xfrm>
          <a:custGeom>
            <a:avLst/>
            <a:gdLst/>
            <a:ahLst/>
            <a:cxnLst/>
            <a:rect r="r" b="b" t="t" l="l"/>
            <a:pathLst>
              <a:path h="8770189" w="4944681">
                <a:moveTo>
                  <a:pt x="0" y="0"/>
                </a:moveTo>
                <a:lnTo>
                  <a:pt x="4944681" y="0"/>
                </a:lnTo>
                <a:lnTo>
                  <a:pt x="4944681" y="8770189"/>
                </a:lnTo>
                <a:lnTo>
                  <a:pt x="0" y="8770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284" t="0" r="0" b="-2617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14729758" y="370066"/>
            <a:ext cx="3928818" cy="3187667"/>
          </a:xfrm>
          <a:custGeom>
            <a:avLst/>
            <a:gdLst/>
            <a:ahLst/>
            <a:cxnLst/>
            <a:rect r="r" b="b" t="t" l="l"/>
            <a:pathLst>
              <a:path h="3187667" w="3928818">
                <a:moveTo>
                  <a:pt x="0" y="0"/>
                </a:moveTo>
                <a:lnTo>
                  <a:pt x="3928817" y="0"/>
                </a:lnTo>
                <a:lnTo>
                  <a:pt x="3928817" y="3187667"/>
                </a:lnTo>
                <a:lnTo>
                  <a:pt x="0" y="3187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1539" t="-32387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4706098" cy="1811176"/>
          </a:xfrm>
          <a:custGeom>
            <a:avLst/>
            <a:gdLst/>
            <a:ahLst/>
            <a:cxnLst/>
            <a:rect r="r" b="b" t="t" l="l"/>
            <a:pathLst>
              <a:path h="1811176" w="4706098">
                <a:moveTo>
                  <a:pt x="0" y="0"/>
                </a:moveTo>
                <a:lnTo>
                  <a:pt x="4706098" y="0"/>
                </a:lnTo>
                <a:lnTo>
                  <a:pt x="4706098" y="1811176"/>
                </a:lnTo>
                <a:lnTo>
                  <a:pt x="0" y="18111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7260" t="-208176" r="-1325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156360" y="4136035"/>
            <a:ext cx="8255590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Se nos encargo el entrevistar a un profesional que estuviera relacionado o haya estudiado en la carrera de la Ingeniería de sistemas.</a:t>
            </a:r>
          </a:p>
          <a:p>
            <a:pPr algn="ctr">
              <a:lnSpc>
                <a:spcPts val="3104"/>
              </a:lnSpc>
            </a:pPr>
          </a:p>
          <a:p>
            <a:pPr algn="ctr" marL="0" indent="0" lvl="0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Y recopilamos la información para destacar los elementos importantes de esta ultima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56360" y="2945410"/>
            <a:ext cx="825559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</a:pPr>
            <a:r>
              <a:rPr lang="en-US" b="true" sz="9000" spc="-567" strike="noStrike" u="none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C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7755" y="1028700"/>
            <a:ext cx="6602866" cy="3250498"/>
          </a:xfrm>
          <a:custGeom>
            <a:avLst/>
            <a:gdLst/>
            <a:ahLst/>
            <a:cxnLst/>
            <a:rect r="r" b="b" t="t" l="l"/>
            <a:pathLst>
              <a:path h="3250498" w="6602866">
                <a:moveTo>
                  <a:pt x="0" y="0"/>
                </a:moveTo>
                <a:lnTo>
                  <a:pt x="6602866" y="0"/>
                </a:lnTo>
                <a:lnTo>
                  <a:pt x="6602866" y="3250498"/>
                </a:lnTo>
                <a:lnTo>
                  <a:pt x="0" y="3250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85" t="0" r="-13663" b="-110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904" y="4269673"/>
            <a:ext cx="17261598" cy="5397114"/>
            <a:chOff x="0" y="0"/>
            <a:chExt cx="8980036" cy="2807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80036" cy="2807751"/>
            </a:xfrm>
            <a:custGeom>
              <a:avLst/>
              <a:gdLst/>
              <a:ahLst/>
              <a:cxnLst/>
              <a:rect r="r" b="b" t="t" l="l"/>
              <a:pathLst>
                <a:path h="2807751" w="8980036">
                  <a:moveTo>
                    <a:pt x="8855576" y="2807751"/>
                  </a:moveTo>
                  <a:lnTo>
                    <a:pt x="124460" y="2807751"/>
                  </a:lnTo>
                  <a:cubicBezTo>
                    <a:pt x="55880" y="2807751"/>
                    <a:pt x="0" y="2751871"/>
                    <a:pt x="0" y="26832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855577" y="0"/>
                  </a:lnTo>
                  <a:cubicBezTo>
                    <a:pt x="8924156" y="0"/>
                    <a:pt x="8980036" y="55880"/>
                    <a:pt x="8980036" y="124460"/>
                  </a:cubicBezTo>
                  <a:lnTo>
                    <a:pt x="8980036" y="2683291"/>
                  </a:lnTo>
                  <a:cubicBezTo>
                    <a:pt x="8980036" y="2751871"/>
                    <a:pt x="8924156" y="2807751"/>
                    <a:pt x="8855577" y="28077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5" id="5"/>
          <p:cNvSpPr/>
          <p:nvPr/>
        </p:nvSpPr>
        <p:spPr>
          <a:xfrm>
            <a:off x="498904" y="4405099"/>
            <a:ext cx="17261598" cy="0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true" flipV="false" rot="-1478068">
            <a:off x="8205754" y="926911"/>
            <a:ext cx="2982324" cy="1594188"/>
          </a:xfrm>
          <a:custGeom>
            <a:avLst/>
            <a:gdLst/>
            <a:ahLst/>
            <a:cxnLst/>
            <a:rect r="r" b="b" t="t" l="l"/>
            <a:pathLst>
              <a:path h="1594188" w="2982324">
                <a:moveTo>
                  <a:pt x="2982324" y="0"/>
                </a:moveTo>
                <a:lnTo>
                  <a:pt x="0" y="0"/>
                </a:lnTo>
                <a:lnTo>
                  <a:pt x="0" y="1594187"/>
                </a:lnTo>
                <a:lnTo>
                  <a:pt x="2982324" y="1594187"/>
                </a:lnTo>
                <a:lnTo>
                  <a:pt x="2982324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19200"/>
            <a:ext cx="8668216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spc="-567" b="true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Datos del</a:t>
            </a:r>
          </a:p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Entrevistado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8359" y="5290869"/>
            <a:ext cx="515138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NOMBRE Y EDAD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94470"/>
            <a:ext cx="5161049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Kevin Flores Tarmeño</a:t>
            </a:r>
          </a:p>
          <a:p>
            <a:pPr algn="l">
              <a:lnSpc>
                <a:spcPts val="3104"/>
              </a:lnSpc>
            </a:pPr>
          </a:p>
          <a:p>
            <a:pPr algn="l" marL="0" indent="0" lvl="1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Edad: 30 años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98251" y="5290869"/>
            <a:ext cx="51610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EXPERIENCIA LABORAL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98251" y="6094470"/>
            <a:ext cx="5161049" cy="274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700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engo 8 años de experiencia en el rubro, Desde que egrese en el 2018.</a:t>
            </a:r>
          </a:p>
          <a:p>
            <a:pPr algn="l">
              <a:lnSpc>
                <a:spcPts val="3104"/>
              </a:lnSpc>
            </a:pPr>
          </a:p>
          <a:p>
            <a:pPr algn="l">
              <a:lnSpc>
                <a:spcPts val="3104"/>
              </a:lnSpc>
            </a:pPr>
            <a:r>
              <a:rPr lang="en-US" sz="2700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Tengo experiencia como programador especializado en Java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8646" y="5290869"/>
            <a:ext cx="51610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FORM. ACADEMICA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3476" y="6094470"/>
            <a:ext cx="5161049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Egresado de la facultad de ingeniería de sistemas de la Universidad Nacional Federico Villareal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C1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116901">
            <a:off x="-321856" y="3089261"/>
            <a:ext cx="2951363" cy="2913800"/>
          </a:xfrm>
          <a:custGeom>
            <a:avLst/>
            <a:gdLst/>
            <a:ahLst/>
            <a:cxnLst/>
            <a:rect r="r" b="b" t="t" l="l"/>
            <a:pathLst>
              <a:path h="2913800" w="2951363">
                <a:moveTo>
                  <a:pt x="0" y="0"/>
                </a:moveTo>
                <a:lnTo>
                  <a:pt x="2951363" y="0"/>
                </a:lnTo>
                <a:lnTo>
                  <a:pt x="2951363" y="2913801"/>
                </a:lnTo>
                <a:lnTo>
                  <a:pt x="0" y="2913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832795" y="-116144"/>
            <a:ext cx="9611906" cy="10563532"/>
            <a:chOff x="0" y="0"/>
            <a:chExt cx="2531531" cy="2782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1531" cy="2782165"/>
            </a:xfrm>
            <a:custGeom>
              <a:avLst/>
              <a:gdLst/>
              <a:ahLst/>
              <a:cxnLst/>
              <a:rect r="r" b="b" t="t" l="l"/>
              <a:pathLst>
                <a:path h="2782165" w="2531531">
                  <a:moveTo>
                    <a:pt x="0" y="0"/>
                  </a:moveTo>
                  <a:lnTo>
                    <a:pt x="2531531" y="0"/>
                  </a:lnTo>
                  <a:lnTo>
                    <a:pt x="2531531" y="2782165"/>
                  </a:lnTo>
                  <a:lnTo>
                    <a:pt x="0" y="27821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531531" cy="2734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852" y="0"/>
            <a:ext cx="9372383" cy="5500147"/>
          </a:xfrm>
          <a:custGeom>
            <a:avLst/>
            <a:gdLst/>
            <a:ahLst/>
            <a:cxnLst/>
            <a:rect r="r" b="b" t="t" l="l"/>
            <a:pathLst>
              <a:path h="5500147" w="9372383">
                <a:moveTo>
                  <a:pt x="0" y="0"/>
                </a:moveTo>
                <a:lnTo>
                  <a:pt x="9372382" y="0"/>
                </a:lnTo>
                <a:lnTo>
                  <a:pt x="9372382" y="5500147"/>
                </a:lnTo>
                <a:lnTo>
                  <a:pt x="0" y="5500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4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-5400000">
            <a:off x="7851952" y="6173700"/>
            <a:ext cx="1056393" cy="924344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3778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829675"/>
            <a:ext cx="687975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LABORAL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6677" y="2770879"/>
            <a:ext cx="7368929" cy="479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b="true" sz="2700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Citado de la entrevista:</a:t>
            </a:r>
          </a:p>
          <a:p>
            <a:pPr algn="l">
              <a:lnSpc>
                <a:spcPts val="3219"/>
              </a:lnSpc>
            </a:pPr>
            <a:r>
              <a:rPr lang="en-US" b="true" sz="2799" strike="noStrike" u="none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“</a:t>
            </a:r>
            <a:r>
              <a:rPr lang="en-US" sz="2799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799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engo 8 años de experiencia en el rubro, he trabajado en empresas como NTT Data, Interbank, Scotiabank, Pacifico </a:t>
            </a:r>
            <a:r>
              <a:rPr lang="en-US" sz="2799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799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eguros y actualmente trabajo en BCP”.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799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“Trabajo con Java, RxJava, Azure Cloud, OpenApi, Kafka, enfocándome en desarrollar aplicaciones empresariales escalables”.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45645"/>
            <a:ext cx="687975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567">
                <a:solidFill>
                  <a:srgbClr val="293241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Experiencia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C1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281105"/>
            <a:chOff x="0" y="0"/>
            <a:chExt cx="4816593" cy="1127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127534"/>
            </a:xfrm>
            <a:custGeom>
              <a:avLst/>
              <a:gdLst/>
              <a:ahLst/>
              <a:cxnLst/>
              <a:rect r="r" b="b" t="t" l="l"/>
              <a:pathLst>
                <a:path h="112753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127534"/>
                  </a:lnTo>
                  <a:lnTo>
                    <a:pt x="0" y="11275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816593" cy="1118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726886">
            <a:off x="11873241" y="-1167649"/>
            <a:ext cx="2628701" cy="2840444"/>
          </a:xfrm>
          <a:custGeom>
            <a:avLst/>
            <a:gdLst/>
            <a:ahLst/>
            <a:cxnLst/>
            <a:rect r="r" b="b" t="t" l="l"/>
            <a:pathLst>
              <a:path h="2840444" w="2628701">
                <a:moveTo>
                  <a:pt x="0" y="0"/>
                </a:moveTo>
                <a:lnTo>
                  <a:pt x="2628701" y="0"/>
                </a:lnTo>
                <a:lnTo>
                  <a:pt x="2628701" y="2840444"/>
                </a:lnTo>
                <a:lnTo>
                  <a:pt x="0" y="284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914509">
            <a:off x="16004046" y="890756"/>
            <a:ext cx="1076585" cy="2902557"/>
          </a:xfrm>
          <a:custGeom>
            <a:avLst/>
            <a:gdLst/>
            <a:ahLst/>
            <a:cxnLst/>
            <a:rect r="r" b="b" t="t" l="l"/>
            <a:pathLst>
              <a:path h="2902557" w="1076585">
                <a:moveTo>
                  <a:pt x="0" y="0"/>
                </a:moveTo>
                <a:lnTo>
                  <a:pt x="1076584" y="0"/>
                </a:lnTo>
                <a:lnTo>
                  <a:pt x="1076584" y="2902557"/>
                </a:lnTo>
                <a:lnTo>
                  <a:pt x="0" y="2902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833934">
            <a:off x="9772468" y="1354806"/>
            <a:ext cx="1714231" cy="2461689"/>
          </a:xfrm>
          <a:custGeom>
            <a:avLst/>
            <a:gdLst/>
            <a:ahLst/>
            <a:cxnLst/>
            <a:rect r="r" b="b" t="t" l="l"/>
            <a:pathLst>
              <a:path h="2461689" w="1714231">
                <a:moveTo>
                  <a:pt x="0" y="0"/>
                </a:moveTo>
                <a:lnTo>
                  <a:pt x="1714231" y="0"/>
                </a:lnTo>
                <a:lnTo>
                  <a:pt x="1714231" y="2461689"/>
                </a:lnTo>
                <a:lnTo>
                  <a:pt x="0" y="2461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787362" y="890197"/>
            <a:ext cx="5577997" cy="3390908"/>
          </a:xfrm>
          <a:custGeom>
            <a:avLst/>
            <a:gdLst/>
            <a:ahLst/>
            <a:cxnLst/>
            <a:rect r="r" b="b" t="t" l="l"/>
            <a:pathLst>
              <a:path h="3390908" w="5577997">
                <a:moveTo>
                  <a:pt x="0" y="0"/>
                </a:moveTo>
                <a:lnTo>
                  <a:pt x="5577997" y="0"/>
                </a:lnTo>
                <a:lnTo>
                  <a:pt x="5577997" y="3390908"/>
                </a:lnTo>
                <a:lnTo>
                  <a:pt x="0" y="3390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2701" t="-75017" r="0" b="-13222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003875"/>
            <a:ext cx="7782887" cy="176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70"/>
              </a:lnSpc>
            </a:pPr>
            <a:r>
              <a:rPr lang="en-US" b="true" sz="7300" spc="-459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Rol y responsabilidades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29664" y="5341464"/>
            <a:ext cx="7681923" cy="4182307"/>
            <a:chOff x="0" y="0"/>
            <a:chExt cx="5453534" cy="29690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53534" cy="2969094"/>
            </a:xfrm>
            <a:custGeom>
              <a:avLst/>
              <a:gdLst/>
              <a:ahLst/>
              <a:cxnLst/>
              <a:rect r="r" b="b" t="t" l="l"/>
              <a:pathLst>
                <a:path h="2969094" w="5453534">
                  <a:moveTo>
                    <a:pt x="5329074" y="2969094"/>
                  </a:moveTo>
                  <a:lnTo>
                    <a:pt x="124460" y="2969094"/>
                  </a:lnTo>
                  <a:cubicBezTo>
                    <a:pt x="55880" y="2969094"/>
                    <a:pt x="0" y="2913214"/>
                    <a:pt x="0" y="28446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29074" y="0"/>
                  </a:lnTo>
                  <a:cubicBezTo>
                    <a:pt x="5397653" y="0"/>
                    <a:pt x="5453534" y="55880"/>
                    <a:pt x="5453534" y="124460"/>
                  </a:cubicBezTo>
                  <a:lnTo>
                    <a:pt x="5453534" y="2844634"/>
                  </a:lnTo>
                  <a:cubicBezTo>
                    <a:pt x="5453534" y="2913214"/>
                    <a:pt x="5397653" y="2969094"/>
                    <a:pt x="5329074" y="29690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77377" y="5341464"/>
            <a:ext cx="7681923" cy="4182307"/>
            <a:chOff x="0" y="0"/>
            <a:chExt cx="5453534" cy="29690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53534" cy="2969094"/>
            </a:xfrm>
            <a:custGeom>
              <a:avLst/>
              <a:gdLst/>
              <a:ahLst/>
              <a:cxnLst/>
              <a:rect r="r" b="b" t="t" l="l"/>
              <a:pathLst>
                <a:path h="2969094" w="5453534">
                  <a:moveTo>
                    <a:pt x="5329074" y="2969094"/>
                  </a:moveTo>
                  <a:lnTo>
                    <a:pt x="124460" y="2969094"/>
                  </a:lnTo>
                  <a:cubicBezTo>
                    <a:pt x="55880" y="2969094"/>
                    <a:pt x="0" y="2913214"/>
                    <a:pt x="0" y="28446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29074" y="0"/>
                  </a:lnTo>
                  <a:cubicBezTo>
                    <a:pt x="5397653" y="0"/>
                    <a:pt x="5453534" y="55880"/>
                    <a:pt x="5453534" y="124460"/>
                  </a:cubicBezTo>
                  <a:lnTo>
                    <a:pt x="5453534" y="2844634"/>
                  </a:lnTo>
                  <a:cubicBezTo>
                    <a:pt x="5453534" y="2913214"/>
                    <a:pt x="5397653" y="2969094"/>
                    <a:pt x="5329074" y="29690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981429" y="6536950"/>
            <a:ext cx="5877429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564"/>
              </a:lnSpc>
            </a:pPr>
            <a:r>
              <a:rPr lang="en-US" sz="3099">
                <a:solidFill>
                  <a:srgbClr val="29324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Actualmente me desempeño como Delivery Lead de Telecrédito para Empresas en el BCP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65717" y="5865437"/>
            <a:ext cx="6705243" cy="314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564"/>
              </a:lnSpc>
            </a:pPr>
            <a:r>
              <a:rPr lang="en-US" sz="3099">
                <a:solidFill>
                  <a:srgbClr val="29324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Cumpliendo el rol de dirigir y coordinar un equipo dedicado al desarrollo de aplicaciones empresariales, asegurando el correcto funcionamiento y cumplimiento de los proyectos tecnológicos.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139419" y="5341464"/>
            <a:ext cx="0" cy="4300294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9546148" y="5341464"/>
            <a:ext cx="0" cy="4182307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5037" y="2466193"/>
            <a:ext cx="11832297" cy="7624444"/>
            <a:chOff x="0" y="0"/>
            <a:chExt cx="8399958" cy="5412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99958" cy="5412728"/>
            </a:xfrm>
            <a:custGeom>
              <a:avLst/>
              <a:gdLst/>
              <a:ahLst/>
              <a:cxnLst/>
              <a:rect r="r" b="b" t="t" l="l"/>
              <a:pathLst>
                <a:path h="5412728" w="8399958">
                  <a:moveTo>
                    <a:pt x="8275497" y="5412728"/>
                  </a:moveTo>
                  <a:lnTo>
                    <a:pt x="124460" y="5412728"/>
                  </a:lnTo>
                  <a:cubicBezTo>
                    <a:pt x="55880" y="5412728"/>
                    <a:pt x="0" y="5356848"/>
                    <a:pt x="0" y="528826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275498" y="0"/>
                  </a:lnTo>
                  <a:cubicBezTo>
                    <a:pt x="8344078" y="0"/>
                    <a:pt x="8399958" y="55880"/>
                    <a:pt x="8399958" y="124460"/>
                  </a:cubicBezTo>
                  <a:lnTo>
                    <a:pt x="8399958" y="5288268"/>
                  </a:lnTo>
                  <a:cubicBezTo>
                    <a:pt x="8399958" y="5356848"/>
                    <a:pt x="8344078" y="5412728"/>
                    <a:pt x="8275498" y="5412728"/>
                  </a:cubicBezTo>
                  <a:close/>
                </a:path>
              </a:pathLst>
            </a:custGeom>
            <a:solidFill>
              <a:srgbClr val="293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11908" y="2748931"/>
            <a:ext cx="11249386" cy="7058968"/>
            <a:chOff x="0" y="0"/>
            <a:chExt cx="7986139" cy="50112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86139" cy="5011287"/>
            </a:xfrm>
            <a:custGeom>
              <a:avLst/>
              <a:gdLst/>
              <a:ahLst/>
              <a:cxnLst/>
              <a:rect r="r" b="b" t="t" l="l"/>
              <a:pathLst>
                <a:path h="5011287" w="7986139">
                  <a:moveTo>
                    <a:pt x="7861678" y="5011287"/>
                  </a:moveTo>
                  <a:lnTo>
                    <a:pt x="124460" y="5011287"/>
                  </a:lnTo>
                  <a:cubicBezTo>
                    <a:pt x="55880" y="5011287"/>
                    <a:pt x="0" y="4955407"/>
                    <a:pt x="0" y="488682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861679" y="0"/>
                  </a:lnTo>
                  <a:cubicBezTo>
                    <a:pt x="7930259" y="0"/>
                    <a:pt x="7986139" y="55880"/>
                    <a:pt x="7986139" y="124460"/>
                  </a:cubicBezTo>
                  <a:lnTo>
                    <a:pt x="7986139" y="4886827"/>
                  </a:lnTo>
                  <a:cubicBezTo>
                    <a:pt x="7986139" y="4955407"/>
                    <a:pt x="7930259" y="5011287"/>
                    <a:pt x="7861679" y="50112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10336" y="3139363"/>
            <a:ext cx="7481087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b="true" sz="2700" strike="noStrike" u="none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Java:</a:t>
            </a:r>
            <a:r>
              <a:rPr lang="en-US" sz="2700" strike="noStrike" u="none">
                <a:solidFill>
                  <a:srgbClr val="44978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700" strike="noStrike" u="none">
                <a:solidFill>
                  <a:srgbClr val="293241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lenguaje de programación utilizado para desarrollar aplicaciones empresariales robustas y seguras</a:t>
            </a:r>
            <a:r>
              <a:rPr lang="en-US" b="true" sz="2700" strike="noStrike" u="none">
                <a:solidFill>
                  <a:srgbClr val="29324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0336" y="4603562"/>
            <a:ext cx="7157206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b="true" sz="2700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RxJava</a:t>
            </a: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 herramienta que permite trabajar con programación reactiva, mejorando el manejo de procesos y datos en tiempo real.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10336" y="6316157"/>
            <a:ext cx="7157206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b="true" sz="2700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Azure Cloud:</a:t>
            </a: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 plataforma en la nube que facilita el almacenamiento, despliegue y administración de aplicaciones y servicios digitales.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0336" y="8012377"/>
            <a:ext cx="7157206" cy="156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b="true" sz="2700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Kafka: </a:t>
            </a: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herramienta que permite procesar y transmitir grandes volúmenes de datos en tiempo real entre diferentes sistemas.</a:t>
            </a: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1868" y="724824"/>
            <a:ext cx="11498634" cy="159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0"/>
              </a:lnSpc>
            </a:pPr>
            <a:r>
              <a:rPr lang="en-US" b="true" sz="6500" spc="-409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Herramientas Tecnologicas usadas en el espacio laboral.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4116901">
            <a:off x="13628022" y="2101323"/>
            <a:ext cx="3287592" cy="3245750"/>
          </a:xfrm>
          <a:custGeom>
            <a:avLst/>
            <a:gdLst/>
            <a:ahLst/>
            <a:cxnLst/>
            <a:rect r="r" b="b" t="t" l="l"/>
            <a:pathLst>
              <a:path h="3245750" w="3287592">
                <a:moveTo>
                  <a:pt x="0" y="0"/>
                </a:moveTo>
                <a:lnTo>
                  <a:pt x="3287592" y="0"/>
                </a:lnTo>
                <a:lnTo>
                  <a:pt x="3287592" y="3245750"/>
                </a:lnTo>
                <a:lnTo>
                  <a:pt x="0" y="324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true" flipV="false" rot="0">
            <a:off x="9922606" y="4241365"/>
            <a:ext cx="8365394" cy="4551110"/>
          </a:xfrm>
          <a:custGeom>
            <a:avLst/>
            <a:gdLst/>
            <a:ahLst/>
            <a:cxnLst/>
            <a:rect r="r" b="b" t="t" l="l"/>
            <a:pathLst>
              <a:path h="4551110" w="8365394">
                <a:moveTo>
                  <a:pt x="8365394" y="0"/>
                </a:moveTo>
                <a:lnTo>
                  <a:pt x="0" y="0"/>
                </a:lnTo>
                <a:lnTo>
                  <a:pt x="0" y="4551110"/>
                </a:lnTo>
                <a:lnTo>
                  <a:pt x="8365394" y="4551110"/>
                </a:lnTo>
                <a:lnTo>
                  <a:pt x="83653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6275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3369268"/>
            <a:ext cx="682517" cy="480319"/>
          </a:xfrm>
          <a:custGeom>
            <a:avLst/>
            <a:gdLst/>
            <a:ahLst/>
            <a:cxnLst/>
            <a:rect r="r" b="b" t="t" l="l"/>
            <a:pathLst>
              <a:path h="480319" w="682517">
                <a:moveTo>
                  <a:pt x="0" y="0"/>
                </a:moveTo>
                <a:lnTo>
                  <a:pt x="682517" y="0"/>
                </a:lnTo>
                <a:lnTo>
                  <a:pt x="682517" y="480319"/>
                </a:lnTo>
                <a:lnTo>
                  <a:pt x="0" y="48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4663181"/>
            <a:ext cx="682517" cy="480319"/>
          </a:xfrm>
          <a:custGeom>
            <a:avLst/>
            <a:gdLst/>
            <a:ahLst/>
            <a:cxnLst/>
            <a:rect r="r" b="b" t="t" l="l"/>
            <a:pathLst>
              <a:path h="480319" w="682517">
                <a:moveTo>
                  <a:pt x="0" y="0"/>
                </a:moveTo>
                <a:lnTo>
                  <a:pt x="682517" y="0"/>
                </a:lnTo>
                <a:lnTo>
                  <a:pt x="682517" y="480319"/>
                </a:lnTo>
                <a:lnTo>
                  <a:pt x="0" y="48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6306632"/>
            <a:ext cx="682517" cy="480319"/>
          </a:xfrm>
          <a:custGeom>
            <a:avLst/>
            <a:gdLst/>
            <a:ahLst/>
            <a:cxnLst/>
            <a:rect r="r" b="b" t="t" l="l"/>
            <a:pathLst>
              <a:path h="480319" w="682517">
                <a:moveTo>
                  <a:pt x="0" y="0"/>
                </a:moveTo>
                <a:lnTo>
                  <a:pt x="682517" y="0"/>
                </a:lnTo>
                <a:lnTo>
                  <a:pt x="682517" y="480319"/>
                </a:lnTo>
                <a:lnTo>
                  <a:pt x="0" y="48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7949001"/>
            <a:ext cx="682517" cy="480319"/>
          </a:xfrm>
          <a:custGeom>
            <a:avLst/>
            <a:gdLst/>
            <a:ahLst/>
            <a:cxnLst/>
            <a:rect r="r" b="b" t="t" l="l"/>
            <a:pathLst>
              <a:path h="480319" w="682517">
                <a:moveTo>
                  <a:pt x="0" y="0"/>
                </a:moveTo>
                <a:lnTo>
                  <a:pt x="682517" y="0"/>
                </a:lnTo>
                <a:lnTo>
                  <a:pt x="682517" y="480319"/>
                </a:lnTo>
                <a:lnTo>
                  <a:pt x="0" y="480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69981">
            <a:off x="16419414" y="1602246"/>
            <a:ext cx="1167199" cy="2154226"/>
          </a:xfrm>
          <a:custGeom>
            <a:avLst/>
            <a:gdLst/>
            <a:ahLst/>
            <a:cxnLst/>
            <a:rect r="r" b="b" t="t" l="l"/>
            <a:pathLst>
              <a:path h="2154226" w="1167199">
                <a:moveTo>
                  <a:pt x="0" y="0"/>
                </a:moveTo>
                <a:lnTo>
                  <a:pt x="1167198" y="0"/>
                </a:lnTo>
                <a:lnTo>
                  <a:pt x="1167198" y="2154226"/>
                </a:lnTo>
                <a:lnTo>
                  <a:pt x="0" y="215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580221">
            <a:off x="12480977" y="2310646"/>
            <a:ext cx="935478" cy="1912688"/>
          </a:xfrm>
          <a:custGeom>
            <a:avLst/>
            <a:gdLst/>
            <a:ahLst/>
            <a:cxnLst/>
            <a:rect r="r" b="b" t="t" l="l"/>
            <a:pathLst>
              <a:path h="1912688" w="935478">
                <a:moveTo>
                  <a:pt x="0" y="0"/>
                </a:moveTo>
                <a:lnTo>
                  <a:pt x="935478" y="0"/>
                </a:lnTo>
                <a:lnTo>
                  <a:pt x="935478" y="1912688"/>
                </a:lnTo>
                <a:lnTo>
                  <a:pt x="0" y="1912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5074">
            <a:off x="13629263" y="857982"/>
            <a:ext cx="2021089" cy="1995366"/>
          </a:xfrm>
          <a:custGeom>
            <a:avLst/>
            <a:gdLst/>
            <a:ahLst/>
            <a:cxnLst/>
            <a:rect r="r" b="b" t="t" l="l"/>
            <a:pathLst>
              <a:path h="1995366" w="2021089">
                <a:moveTo>
                  <a:pt x="0" y="0"/>
                </a:moveTo>
                <a:lnTo>
                  <a:pt x="2021089" y="0"/>
                </a:lnTo>
                <a:lnTo>
                  <a:pt x="2021089" y="1995366"/>
                </a:lnTo>
                <a:lnTo>
                  <a:pt x="0" y="1995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506196">
            <a:off x="14450549" y="2819324"/>
            <a:ext cx="1522344" cy="2186133"/>
          </a:xfrm>
          <a:custGeom>
            <a:avLst/>
            <a:gdLst/>
            <a:ahLst/>
            <a:cxnLst/>
            <a:rect r="r" b="b" t="t" l="l"/>
            <a:pathLst>
              <a:path h="2186133" w="1522344">
                <a:moveTo>
                  <a:pt x="0" y="0"/>
                </a:moveTo>
                <a:lnTo>
                  <a:pt x="1522344" y="0"/>
                </a:lnTo>
                <a:lnTo>
                  <a:pt x="1522344" y="2186133"/>
                </a:lnTo>
                <a:lnTo>
                  <a:pt x="0" y="2186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693266">
            <a:off x="11418749" y="3496837"/>
            <a:ext cx="900402" cy="1840970"/>
          </a:xfrm>
          <a:custGeom>
            <a:avLst/>
            <a:gdLst/>
            <a:ahLst/>
            <a:cxnLst/>
            <a:rect r="r" b="b" t="t" l="l"/>
            <a:pathLst>
              <a:path h="1840970" w="900402">
                <a:moveTo>
                  <a:pt x="0" y="0"/>
                </a:moveTo>
                <a:lnTo>
                  <a:pt x="900402" y="0"/>
                </a:lnTo>
                <a:lnTo>
                  <a:pt x="900402" y="1840970"/>
                </a:lnTo>
                <a:lnTo>
                  <a:pt x="0" y="1840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12732615" y="4775173"/>
            <a:ext cx="6089152" cy="5511827"/>
          </a:xfrm>
          <a:custGeom>
            <a:avLst/>
            <a:gdLst/>
            <a:ahLst/>
            <a:cxnLst/>
            <a:rect r="r" b="b" t="t" l="l"/>
            <a:pathLst>
              <a:path h="5511827" w="6089152">
                <a:moveTo>
                  <a:pt x="6089152" y="0"/>
                </a:moveTo>
                <a:lnTo>
                  <a:pt x="0" y="0"/>
                </a:lnTo>
                <a:lnTo>
                  <a:pt x="0" y="5511827"/>
                </a:lnTo>
                <a:lnTo>
                  <a:pt x="6089152" y="5511827"/>
                </a:lnTo>
                <a:lnTo>
                  <a:pt x="608915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100138" y="5688391"/>
            <a:ext cx="10768813" cy="3284159"/>
            <a:chOff x="0" y="0"/>
            <a:chExt cx="7637679" cy="2329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37680" cy="2329259"/>
            </a:xfrm>
            <a:custGeom>
              <a:avLst/>
              <a:gdLst/>
              <a:ahLst/>
              <a:cxnLst/>
              <a:rect r="r" b="b" t="t" l="l"/>
              <a:pathLst>
                <a:path h="2329259" w="7637680">
                  <a:moveTo>
                    <a:pt x="7513220" y="2329259"/>
                  </a:moveTo>
                  <a:lnTo>
                    <a:pt x="124460" y="2329259"/>
                  </a:lnTo>
                  <a:cubicBezTo>
                    <a:pt x="55880" y="2329259"/>
                    <a:pt x="0" y="2273379"/>
                    <a:pt x="0" y="22047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513220" y="0"/>
                  </a:lnTo>
                  <a:cubicBezTo>
                    <a:pt x="7581799" y="0"/>
                    <a:pt x="7637680" y="55880"/>
                    <a:pt x="7637680" y="124460"/>
                  </a:cubicBezTo>
                  <a:lnTo>
                    <a:pt x="7637680" y="2204799"/>
                  </a:lnTo>
                  <a:cubicBezTo>
                    <a:pt x="7637680" y="2273379"/>
                    <a:pt x="7581799" y="2329259"/>
                    <a:pt x="7513220" y="23292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0" id="10"/>
          <p:cNvSpPr/>
          <p:nvPr/>
        </p:nvSpPr>
        <p:spPr>
          <a:xfrm flipV="true">
            <a:off x="1171575" y="5688391"/>
            <a:ext cx="0" cy="3284159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2823532"/>
            <a:ext cx="10028254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Uno de los mayores retos para los ingenieros de sistemas es mantenerse actualizado frente al constante avance tecnológico.</a:t>
            </a:r>
          </a:p>
          <a:p>
            <a:pPr algn="l" marL="0" indent="0" lvl="0">
              <a:lnSpc>
                <a:spcPts val="3104"/>
              </a:lnSpc>
            </a:pPr>
          </a:p>
          <a:p>
            <a:pPr algn="l" marL="0" indent="0" lvl="0">
              <a:lnSpc>
                <a:spcPts val="3104"/>
              </a:lnSpc>
            </a:pPr>
            <a:r>
              <a:rPr lang="en-US" b="true" sz="2700" strike="noStrike" u="none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Entre los principales desafios se encuentran: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1766" y="5999193"/>
            <a:ext cx="10065107" cy="267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Adaptarse a nuevas tecnologias y herramientas digitales.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Innovar constantemente para seguir siendo competitivo en el mercado laboral.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Resolver problemas tecnológicos de manera rapida y eficiente.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Mantenerse en capacitacicón continua debido a los cambios en el sector tecnológico.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Enfrentar los riesgos relacionados con la ciberseguridad y la protección de datos.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0921"/>
            <a:ext cx="10028254" cy="161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b="true" sz="4500" spc="-283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¿Qué retos considera más importantes para un ingeniero de sistemas en Perú?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69981">
            <a:off x="16419414" y="1602246"/>
            <a:ext cx="1167199" cy="2154226"/>
          </a:xfrm>
          <a:custGeom>
            <a:avLst/>
            <a:gdLst/>
            <a:ahLst/>
            <a:cxnLst/>
            <a:rect r="r" b="b" t="t" l="l"/>
            <a:pathLst>
              <a:path h="2154226" w="1167199">
                <a:moveTo>
                  <a:pt x="0" y="0"/>
                </a:moveTo>
                <a:lnTo>
                  <a:pt x="1167198" y="0"/>
                </a:lnTo>
                <a:lnTo>
                  <a:pt x="1167198" y="2154226"/>
                </a:lnTo>
                <a:lnTo>
                  <a:pt x="0" y="2154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580221">
            <a:off x="12480977" y="2310646"/>
            <a:ext cx="935478" cy="1912688"/>
          </a:xfrm>
          <a:custGeom>
            <a:avLst/>
            <a:gdLst/>
            <a:ahLst/>
            <a:cxnLst/>
            <a:rect r="r" b="b" t="t" l="l"/>
            <a:pathLst>
              <a:path h="1912688" w="935478">
                <a:moveTo>
                  <a:pt x="0" y="0"/>
                </a:moveTo>
                <a:lnTo>
                  <a:pt x="935478" y="0"/>
                </a:lnTo>
                <a:lnTo>
                  <a:pt x="935478" y="1912688"/>
                </a:lnTo>
                <a:lnTo>
                  <a:pt x="0" y="1912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5074">
            <a:off x="13629263" y="857982"/>
            <a:ext cx="2021089" cy="1995366"/>
          </a:xfrm>
          <a:custGeom>
            <a:avLst/>
            <a:gdLst/>
            <a:ahLst/>
            <a:cxnLst/>
            <a:rect r="r" b="b" t="t" l="l"/>
            <a:pathLst>
              <a:path h="1995366" w="2021089">
                <a:moveTo>
                  <a:pt x="0" y="0"/>
                </a:moveTo>
                <a:lnTo>
                  <a:pt x="2021089" y="0"/>
                </a:lnTo>
                <a:lnTo>
                  <a:pt x="2021089" y="1995366"/>
                </a:lnTo>
                <a:lnTo>
                  <a:pt x="0" y="19953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506196">
            <a:off x="14450549" y="2819324"/>
            <a:ext cx="1522344" cy="2186133"/>
          </a:xfrm>
          <a:custGeom>
            <a:avLst/>
            <a:gdLst/>
            <a:ahLst/>
            <a:cxnLst/>
            <a:rect r="r" b="b" t="t" l="l"/>
            <a:pathLst>
              <a:path h="2186133" w="1522344">
                <a:moveTo>
                  <a:pt x="0" y="0"/>
                </a:moveTo>
                <a:lnTo>
                  <a:pt x="1522344" y="0"/>
                </a:lnTo>
                <a:lnTo>
                  <a:pt x="1522344" y="2186133"/>
                </a:lnTo>
                <a:lnTo>
                  <a:pt x="0" y="2186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693266">
            <a:off x="11418749" y="3496837"/>
            <a:ext cx="900402" cy="1840970"/>
          </a:xfrm>
          <a:custGeom>
            <a:avLst/>
            <a:gdLst/>
            <a:ahLst/>
            <a:cxnLst/>
            <a:rect r="r" b="b" t="t" l="l"/>
            <a:pathLst>
              <a:path h="1840970" w="900402">
                <a:moveTo>
                  <a:pt x="0" y="0"/>
                </a:moveTo>
                <a:lnTo>
                  <a:pt x="900402" y="0"/>
                </a:lnTo>
                <a:lnTo>
                  <a:pt x="900402" y="1840970"/>
                </a:lnTo>
                <a:lnTo>
                  <a:pt x="0" y="1840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12732615" y="4775173"/>
            <a:ext cx="6089152" cy="5511827"/>
          </a:xfrm>
          <a:custGeom>
            <a:avLst/>
            <a:gdLst/>
            <a:ahLst/>
            <a:cxnLst/>
            <a:rect r="r" b="b" t="t" l="l"/>
            <a:pathLst>
              <a:path h="5511827" w="6089152">
                <a:moveTo>
                  <a:pt x="6089152" y="0"/>
                </a:moveTo>
                <a:lnTo>
                  <a:pt x="0" y="0"/>
                </a:lnTo>
                <a:lnTo>
                  <a:pt x="0" y="5511827"/>
                </a:lnTo>
                <a:lnTo>
                  <a:pt x="6089152" y="5511827"/>
                </a:lnTo>
                <a:lnTo>
                  <a:pt x="608915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100138" y="5688391"/>
            <a:ext cx="10768813" cy="3284159"/>
            <a:chOff x="0" y="0"/>
            <a:chExt cx="7637679" cy="2329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37680" cy="2329259"/>
            </a:xfrm>
            <a:custGeom>
              <a:avLst/>
              <a:gdLst/>
              <a:ahLst/>
              <a:cxnLst/>
              <a:rect r="r" b="b" t="t" l="l"/>
              <a:pathLst>
                <a:path h="2329259" w="7637680">
                  <a:moveTo>
                    <a:pt x="7513220" y="2329259"/>
                  </a:moveTo>
                  <a:lnTo>
                    <a:pt x="124460" y="2329259"/>
                  </a:lnTo>
                  <a:cubicBezTo>
                    <a:pt x="55880" y="2329259"/>
                    <a:pt x="0" y="2273379"/>
                    <a:pt x="0" y="22047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513220" y="0"/>
                  </a:lnTo>
                  <a:cubicBezTo>
                    <a:pt x="7581799" y="0"/>
                    <a:pt x="7637680" y="55880"/>
                    <a:pt x="7637680" y="124460"/>
                  </a:cubicBezTo>
                  <a:lnTo>
                    <a:pt x="7637680" y="2204799"/>
                  </a:lnTo>
                  <a:cubicBezTo>
                    <a:pt x="7637680" y="2273379"/>
                    <a:pt x="7581799" y="2329259"/>
                    <a:pt x="7513220" y="23292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10" id="10"/>
          <p:cNvSpPr/>
          <p:nvPr/>
        </p:nvSpPr>
        <p:spPr>
          <a:xfrm flipV="true">
            <a:off x="1171575" y="5688391"/>
            <a:ext cx="0" cy="3284159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2823532"/>
            <a:ext cx="10028254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Actualmente la Ingeniería de Sistemas ofrece muchas oportunidades laborales gracias al crecimiento del sector tecnológico</a:t>
            </a:r>
          </a:p>
          <a:p>
            <a:pPr algn="l" marL="0" indent="0" lvl="0">
              <a:lnSpc>
                <a:spcPts val="3104"/>
              </a:lnSpc>
            </a:pPr>
          </a:p>
          <a:p>
            <a:pPr algn="l" marL="0" indent="0" lvl="0">
              <a:lnSpc>
                <a:spcPts val="3104"/>
              </a:lnSpc>
            </a:pPr>
            <a:r>
              <a:rPr lang="en-US" b="true" sz="2700" strike="noStrike" u="none">
                <a:solidFill>
                  <a:srgbClr val="293241"/>
                </a:solidFill>
                <a:latin typeface="Garet Bold"/>
                <a:ea typeface="Garet Bold"/>
                <a:cs typeface="Garet Bold"/>
                <a:sym typeface="Garet Bold"/>
              </a:rPr>
              <a:t>Algunas de las principales oportunidades son: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1990" y="5848350"/>
            <a:ext cx="10250181" cy="300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Alta demanda de profesionales en desarrollo de software.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Crecimiento de áreas relacionadas con la transformación digital.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Oportunidades en ciberseguridad y protección de información.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Posibilidad de trabajar en cloud computing e inteligencia artificial.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Acceso a empleos remotos para empresas nacionales e internacionales.</a:t>
            </a:r>
          </a:p>
          <a:p>
            <a:pPr algn="l" marL="496572" indent="-248286" lvl="1">
              <a:lnSpc>
                <a:spcPts val="2645"/>
              </a:lnSpc>
              <a:buFont typeface="Arial"/>
              <a:buChar char="•"/>
            </a:pPr>
            <a:r>
              <a:rPr lang="en-US" sz="23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Buenas oportunidades de crecimiento profesional y económico.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0921"/>
            <a:ext cx="10028254" cy="161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b="true" sz="4500" spc="-283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¿Qué oportunidades existen actualmente para los jóvenes profesionales de esta carrera?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782" y="2838445"/>
            <a:ext cx="5469654" cy="6927292"/>
            <a:chOff x="0" y="0"/>
            <a:chExt cx="3879301" cy="4913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9301" cy="4913117"/>
            </a:xfrm>
            <a:custGeom>
              <a:avLst/>
              <a:gdLst/>
              <a:ahLst/>
              <a:cxnLst/>
              <a:rect r="r" b="b" t="t" l="l"/>
              <a:pathLst>
                <a:path h="4913117" w="3879301">
                  <a:moveTo>
                    <a:pt x="3754841" y="4913117"/>
                  </a:moveTo>
                  <a:lnTo>
                    <a:pt x="124460" y="4913117"/>
                  </a:lnTo>
                  <a:cubicBezTo>
                    <a:pt x="55880" y="4913117"/>
                    <a:pt x="0" y="4857237"/>
                    <a:pt x="0" y="478865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54841" y="0"/>
                  </a:lnTo>
                  <a:cubicBezTo>
                    <a:pt x="3823421" y="0"/>
                    <a:pt x="3879301" y="55880"/>
                    <a:pt x="3879301" y="124460"/>
                  </a:cubicBezTo>
                  <a:lnTo>
                    <a:pt x="3879301" y="4788657"/>
                  </a:lnTo>
                  <a:cubicBezTo>
                    <a:pt x="3879301" y="4857237"/>
                    <a:pt x="3823421" y="4913117"/>
                    <a:pt x="3754841" y="4913117"/>
                  </a:cubicBezTo>
                  <a:close/>
                </a:path>
              </a:pathLst>
            </a:custGeom>
            <a:solidFill>
              <a:srgbClr val="FADA6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39643" y="2837357"/>
            <a:ext cx="5432094" cy="6929469"/>
            <a:chOff x="0" y="0"/>
            <a:chExt cx="3852662" cy="49146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52662" cy="4914661"/>
            </a:xfrm>
            <a:custGeom>
              <a:avLst/>
              <a:gdLst/>
              <a:ahLst/>
              <a:cxnLst/>
              <a:rect r="r" b="b" t="t" l="l"/>
              <a:pathLst>
                <a:path h="4914661" w="3852662">
                  <a:moveTo>
                    <a:pt x="3728202" y="4914661"/>
                  </a:moveTo>
                  <a:lnTo>
                    <a:pt x="124460" y="4914661"/>
                  </a:lnTo>
                  <a:cubicBezTo>
                    <a:pt x="55880" y="4914661"/>
                    <a:pt x="0" y="4858781"/>
                    <a:pt x="0" y="47902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28202" y="0"/>
                  </a:lnTo>
                  <a:cubicBezTo>
                    <a:pt x="3796782" y="0"/>
                    <a:pt x="3852662" y="55880"/>
                    <a:pt x="3852662" y="124460"/>
                  </a:cubicBezTo>
                  <a:lnTo>
                    <a:pt x="3852662" y="4790201"/>
                  </a:lnTo>
                  <a:cubicBezTo>
                    <a:pt x="3852662" y="4858781"/>
                    <a:pt x="3796782" y="4914661"/>
                    <a:pt x="3728202" y="4914661"/>
                  </a:cubicBezTo>
                  <a:close/>
                </a:path>
              </a:pathLst>
            </a:custGeom>
            <a:solidFill>
              <a:srgbClr val="9DCCE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04450" y="2837357"/>
            <a:ext cx="5469654" cy="6929469"/>
            <a:chOff x="0" y="0"/>
            <a:chExt cx="3879301" cy="49146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9301" cy="4914661"/>
            </a:xfrm>
            <a:custGeom>
              <a:avLst/>
              <a:gdLst/>
              <a:ahLst/>
              <a:cxnLst/>
              <a:rect r="r" b="b" t="t" l="l"/>
              <a:pathLst>
                <a:path h="4914661" w="3879301">
                  <a:moveTo>
                    <a:pt x="3754841" y="4914661"/>
                  </a:moveTo>
                  <a:lnTo>
                    <a:pt x="124460" y="4914661"/>
                  </a:lnTo>
                  <a:cubicBezTo>
                    <a:pt x="55880" y="4914661"/>
                    <a:pt x="0" y="4858781"/>
                    <a:pt x="0" y="47902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754841" y="0"/>
                  </a:lnTo>
                  <a:cubicBezTo>
                    <a:pt x="3823421" y="0"/>
                    <a:pt x="3879301" y="55880"/>
                    <a:pt x="3879301" y="124460"/>
                  </a:cubicBezTo>
                  <a:lnTo>
                    <a:pt x="3879301" y="4790201"/>
                  </a:lnTo>
                  <a:cubicBezTo>
                    <a:pt x="3879301" y="4858781"/>
                    <a:pt x="3823421" y="4914661"/>
                    <a:pt x="3754841" y="4914661"/>
                  </a:cubicBezTo>
                  <a:close/>
                </a:path>
              </a:pathLst>
            </a:custGeom>
            <a:solidFill>
              <a:srgbClr val="DFC1A2"/>
            </a:solidFill>
          </p:spPr>
        </p:sp>
      </p:grpSp>
      <p:sp>
        <p:nvSpPr>
          <p:cNvPr name="AutoShape 8" id="8"/>
          <p:cNvSpPr/>
          <p:nvPr/>
        </p:nvSpPr>
        <p:spPr>
          <a:xfrm>
            <a:off x="6428990" y="9766826"/>
            <a:ext cx="5432094" cy="0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42782" y="9766826"/>
            <a:ext cx="5469654" cy="0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2082820" y="9766826"/>
            <a:ext cx="5514751" cy="0"/>
          </a:xfrm>
          <a:prstGeom prst="line">
            <a:avLst/>
          </a:prstGeom>
          <a:ln cap="rnd" w="285750">
            <a:solidFill>
              <a:srgbClr val="2932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42782" y="2368109"/>
            <a:ext cx="1212414" cy="121241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24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82683" y="2368109"/>
            <a:ext cx="1212414" cy="12124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24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61072" y="2368109"/>
            <a:ext cx="1212414" cy="121241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324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174117" y="2574614"/>
            <a:ext cx="786324" cy="799405"/>
          </a:xfrm>
          <a:custGeom>
            <a:avLst/>
            <a:gdLst/>
            <a:ahLst/>
            <a:cxnLst/>
            <a:rect r="r" b="b" t="t" l="l"/>
            <a:pathLst>
              <a:path h="799405" w="786324">
                <a:moveTo>
                  <a:pt x="0" y="0"/>
                </a:moveTo>
                <a:lnTo>
                  <a:pt x="786324" y="0"/>
                </a:lnTo>
                <a:lnTo>
                  <a:pt x="786324" y="799405"/>
                </a:lnTo>
                <a:lnTo>
                  <a:pt x="0" y="799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95729" y="2564773"/>
            <a:ext cx="786324" cy="819087"/>
          </a:xfrm>
          <a:custGeom>
            <a:avLst/>
            <a:gdLst/>
            <a:ahLst/>
            <a:cxnLst/>
            <a:rect r="r" b="b" t="t" l="l"/>
            <a:pathLst>
              <a:path h="819087" w="786324">
                <a:moveTo>
                  <a:pt x="0" y="0"/>
                </a:moveTo>
                <a:lnTo>
                  <a:pt x="786323" y="0"/>
                </a:lnTo>
                <a:lnTo>
                  <a:pt x="786323" y="819087"/>
                </a:lnTo>
                <a:lnTo>
                  <a:pt x="0" y="819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21822" y="2551032"/>
            <a:ext cx="854336" cy="846569"/>
          </a:xfrm>
          <a:custGeom>
            <a:avLst/>
            <a:gdLst/>
            <a:ahLst/>
            <a:cxnLst/>
            <a:rect r="r" b="b" t="t" l="l"/>
            <a:pathLst>
              <a:path h="846569" w="854336">
                <a:moveTo>
                  <a:pt x="0" y="0"/>
                </a:moveTo>
                <a:lnTo>
                  <a:pt x="854335" y="0"/>
                </a:lnTo>
                <a:lnTo>
                  <a:pt x="854335" y="846569"/>
                </a:lnTo>
                <a:lnTo>
                  <a:pt x="0" y="846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-257175"/>
            <a:ext cx="1623060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00"/>
              </a:lnSpc>
            </a:pPr>
            <a:r>
              <a:rPr lang="en-US" b="true" sz="9000" spc="-567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Concluciones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5242" y="3993947"/>
            <a:ext cx="481624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AREAS RECOMENDADAS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48013" y="3993947"/>
            <a:ext cx="46901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PALABRAS FINALES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993947"/>
            <a:ext cx="469731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 spc="-5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RECOMENDACIONES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698797"/>
            <a:ext cx="4697319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999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El entrevistado aconseja en la entrevista a:</a:t>
            </a:r>
          </a:p>
          <a:p>
            <a:pPr algn="l">
              <a:lnSpc>
                <a:spcPts val="3449"/>
              </a:lnSpc>
            </a:pPr>
          </a:p>
          <a:p>
            <a:pPr algn="l" marL="0" indent="0" lvl="1">
              <a:lnSpc>
                <a:spcPts val="3449"/>
              </a:lnSpc>
            </a:pPr>
            <a:r>
              <a:rPr lang="en-US" sz="2999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“ Aprender a aprender, mantenerse actualizado y practicar mucho.”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85242" y="4813097"/>
            <a:ext cx="4816242" cy="35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En base a su propia experiencia, recomienda especializarse en estas Areas:</a:t>
            </a:r>
          </a:p>
          <a:p>
            <a:pPr algn="l">
              <a:lnSpc>
                <a:spcPts val="3104"/>
              </a:lnSpc>
            </a:pPr>
          </a:p>
          <a:p>
            <a:pPr algn="l" marL="0" indent="0" lvl="1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“Cloud computing, inteligencia artificial y desarrollo de aplicaciones móviles.”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94227" y="5153025"/>
            <a:ext cx="4690100" cy="19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04"/>
              </a:lnSpc>
            </a:pPr>
            <a:r>
              <a:rPr lang="en-US" sz="2700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“S</a:t>
            </a:r>
            <a:r>
              <a:rPr lang="en-US" sz="2700" strike="noStrike" u="none">
                <a:solidFill>
                  <a:srgbClr val="293241"/>
                </a:solidFill>
                <a:latin typeface="Garet"/>
                <a:ea typeface="Garet"/>
                <a:cs typeface="Garet"/>
                <a:sym typeface="Garet"/>
              </a:rPr>
              <a:t>istemas es una carrera dinámica y desafiante,  aunque con muchas oportunidades en Perú y a nivel global.”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08270"/>
            <a:chOff x="0" y="0"/>
            <a:chExt cx="4816593" cy="6342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34277"/>
            </a:xfrm>
            <a:custGeom>
              <a:avLst/>
              <a:gdLst/>
              <a:ahLst/>
              <a:cxnLst/>
              <a:rect r="r" b="b" t="t" l="l"/>
              <a:pathLst>
                <a:path h="6342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34277"/>
                  </a:lnTo>
                  <a:lnTo>
                    <a:pt x="0" y="6342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67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63553" y="3287629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-19087"/>
            <a:ext cx="16230600" cy="226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00"/>
              </a:lnSpc>
              <a:spcBef>
                <a:spcPct val="0"/>
              </a:spcBef>
            </a:pPr>
            <a:r>
              <a:rPr lang="en-US" b="true" sz="8000" spc="-504">
                <a:solidFill>
                  <a:srgbClr val="293241"/>
                </a:solidFill>
                <a:latin typeface="Coco Gothic Heavy"/>
                <a:ea typeface="Coco Gothic Heavy"/>
                <a:cs typeface="Coco Gothic Heavy"/>
                <a:sym typeface="Coco Gothic Heavy"/>
              </a:rPr>
              <a:t>Evidencia de la Entrevista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A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5222" y="4217353"/>
            <a:ext cx="13537555" cy="162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Gracias por su atencion.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DAHJfPuiDas</dc:identifier>
  <dcterms:modified xsi:type="dcterms:W3CDTF">2011-08-01T06:04:30Z</dcterms:modified>
  <cp:revision>1</cp:revision>
  <dc:title>Agregar un título</dc:title>
</cp:coreProperties>
</file>