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Cy Grotesk Key" panose="020B0604020202020204" charset="0"/>
      <p:regular r:id="rId25"/>
    </p:embeddedFont>
    <p:embeddedFont>
      <p:font typeface="Cy Grotesk Key Bold" panose="020B0604020202020204" charset="0"/>
      <p:regular r:id="rId26"/>
    </p:embeddedFont>
    <p:embeddedFont>
      <p:font typeface="Cy Grotesk Wide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3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298401">
            <a:off x="3728679" y="-362103"/>
            <a:ext cx="16742237" cy="11209765"/>
            <a:chOff x="0" y="0"/>
            <a:chExt cx="13226772" cy="8855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26772" cy="8855985"/>
            </a:xfrm>
            <a:custGeom>
              <a:avLst/>
              <a:gdLst/>
              <a:ahLst/>
              <a:cxnLst/>
              <a:rect l="l" t="t" r="r" b="b"/>
              <a:pathLst>
                <a:path w="13226772" h="8855985">
                  <a:moveTo>
                    <a:pt x="0" y="0"/>
                  </a:moveTo>
                  <a:lnTo>
                    <a:pt x="13226772" y="0"/>
                  </a:lnTo>
                  <a:lnTo>
                    <a:pt x="13226772" y="8855985"/>
                  </a:lnTo>
                  <a:lnTo>
                    <a:pt x="0" y="88559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226772" cy="8903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820744">
            <a:off x="4774145" y="-492164"/>
            <a:ext cx="16742237" cy="13108365"/>
            <a:chOff x="0" y="0"/>
            <a:chExt cx="13226772" cy="103559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226772" cy="10355924"/>
            </a:xfrm>
            <a:custGeom>
              <a:avLst/>
              <a:gdLst/>
              <a:ahLst/>
              <a:cxnLst/>
              <a:rect l="l" t="t" r="r" b="b"/>
              <a:pathLst>
                <a:path w="13226772" h="10355924">
                  <a:moveTo>
                    <a:pt x="0" y="0"/>
                  </a:moveTo>
                  <a:lnTo>
                    <a:pt x="13226772" y="0"/>
                  </a:lnTo>
                  <a:lnTo>
                    <a:pt x="13226772" y="10355924"/>
                  </a:lnTo>
                  <a:lnTo>
                    <a:pt x="0" y="10355924"/>
                  </a:lnTo>
                  <a:close/>
                </a:path>
              </a:pathLst>
            </a:custGeom>
            <a:solidFill>
              <a:srgbClr val="54DF6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3226772" cy="1040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517180" y="981075"/>
            <a:ext cx="5742120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CONTABILIDAD EMPRESARIAL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971550"/>
            <a:ext cx="6212015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UNIVERSIDAD NACIONAL DEL CALLAO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964995" y="2237838"/>
            <a:ext cx="12484601" cy="6175575"/>
            <a:chOff x="0" y="0"/>
            <a:chExt cx="16646135" cy="823410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57150"/>
              <a:ext cx="12243101" cy="5835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410"/>
                </a:lnSpc>
              </a:pPr>
              <a:r>
                <a:rPr lang="en-US" sz="10009">
                  <a:solidFill>
                    <a:srgbClr val="000000"/>
                  </a:solidFill>
                  <a:latin typeface="Cy Grotesk Wide"/>
                  <a:ea typeface="Cy Grotesk Wide"/>
                  <a:cs typeface="Cy Grotesk Wide"/>
                  <a:sym typeface="Cy Grotesk Wide"/>
                </a:rPr>
                <a:t>Análisis de los estados financieros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337717"/>
              <a:ext cx="12243101" cy="8963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13"/>
                </a:lnSpc>
              </a:pPr>
              <a:r>
                <a:rPr lang="en-US" sz="1938">
                  <a:solidFill>
                    <a:srgbClr val="000000"/>
                  </a:solidFill>
                  <a:latin typeface="Cy Grotesk Wide"/>
                  <a:ea typeface="Cy Grotesk Wide"/>
                  <a:cs typeface="Cy Grotesk Wide"/>
                  <a:sym typeface="Cy Grotesk Wide"/>
                </a:rPr>
                <a:t>PRESENTADO POR HILARY BUSTIOS Y DYLAN CURAY</a:t>
              </a:r>
            </a:p>
            <a:p>
              <a:pPr algn="l">
                <a:lnSpc>
                  <a:spcPts val="2713"/>
                </a:lnSpc>
              </a:pPr>
              <a:r>
                <a:rPr lang="en-US" sz="1938">
                  <a:solidFill>
                    <a:srgbClr val="000000"/>
                  </a:solidFill>
                  <a:latin typeface="Cy Grotesk Wide"/>
                  <a:ea typeface="Cy Grotesk Wide"/>
                  <a:cs typeface="Cy Grotesk Wide"/>
                  <a:sym typeface="Cy Grotesk Wide"/>
                </a:rPr>
                <a:t>DOCENTE: ZEVALLOS VERA JANETH MAGALY</a:t>
              </a: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0" y="6638597"/>
              <a:ext cx="16646135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29475" y="347024"/>
            <a:ext cx="3829050" cy="103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29"/>
              </a:lnSpc>
              <a:spcBef>
                <a:spcPct val="0"/>
              </a:spcBef>
            </a:pPr>
            <a:r>
              <a:rPr lang="en-US" sz="4699" b="1">
                <a:solidFill>
                  <a:srgbClr val="8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CONTENIDO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5275" y="1503996"/>
            <a:ext cx="9742646" cy="71538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12462" lvl="1" indent="-356231" algn="l">
              <a:lnSpc>
                <a:spcPts val="6269"/>
              </a:lnSpc>
              <a:buAutoNum type="arabicPeriod"/>
            </a:pP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Introducción</a:t>
            </a:r>
            <a:endParaRPr lang="en-US" sz="3299" dirty="0">
              <a:solidFill>
                <a:srgbClr val="000000"/>
              </a:solidFill>
              <a:latin typeface="Cy Grotesk Key"/>
              <a:ea typeface="Cy Grotesk Key"/>
              <a:cs typeface="Cy Grotesk Key"/>
              <a:sym typeface="Cy Grotesk Key"/>
            </a:endParaRPr>
          </a:p>
          <a:p>
            <a:pPr marL="712462" lvl="1" indent="-356231" algn="l">
              <a:lnSpc>
                <a:spcPts val="6269"/>
              </a:lnSpc>
              <a:buAutoNum type="arabicPeriod"/>
            </a:pP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Objetivos</a:t>
            </a:r>
            <a:endParaRPr lang="en-US" sz="3299" dirty="0">
              <a:solidFill>
                <a:srgbClr val="000000"/>
              </a:solidFill>
              <a:latin typeface="Cy Grotesk Key"/>
              <a:ea typeface="Cy Grotesk Key"/>
              <a:cs typeface="Cy Grotesk Key"/>
              <a:sym typeface="Cy Grotesk Key"/>
            </a:endParaRPr>
          </a:p>
          <a:p>
            <a:pPr marL="712462" lvl="1" indent="-356231" algn="l">
              <a:lnSpc>
                <a:spcPts val="6269"/>
              </a:lnSpc>
              <a:buAutoNum type="arabicPeriod"/>
            </a:pP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Áreas</a:t>
            </a:r>
            <a:r>
              <a:rPr lang="en-US" sz="32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principales</a:t>
            </a:r>
            <a:r>
              <a:rPr lang="en-US" sz="32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del </a:t>
            </a: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</a:t>
            </a:r>
            <a:r>
              <a:rPr lang="en-US" sz="32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financiero</a:t>
            </a:r>
            <a:endParaRPr lang="en-US" sz="3299" dirty="0">
              <a:solidFill>
                <a:srgbClr val="000000"/>
              </a:solidFill>
              <a:latin typeface="Cy Grotesk Key"/>
              <a:ea typeface="Cy Grotesk Key"/>
              <a:cs typeface="Cy Grotesk Key"/>
              <a:sym typeface="Cy Grotesk Key"/>
            </a:endParaRPr>
          </a:p>
          <a:p>
            <a:pPr marL="712462" lvl="1" indent="-356231" algn="l">
              <a:lnSpc>
                <a:spcPts val="6269"/>
              </a:lnSpc>
              <a:buFont typeface="Arial"/>
              <a:buChar char="•"/>
            </a:pP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</a:t>
            </a:r>
            <a:r>
              <a:rPr lang="en-US" sz="32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la </a:t>
            </a: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liquidez</a:t>
            </a:r>
            <a:endParaRPr lang="en-US" sz="3299" dirty="0">
              <a:solidFill>
                <a:srgbClr val="000000"/>
              </a:solidFill>
              <a:latin typeface="Cy Grotesk Key"/>
              <a:ea typeface="Cy Grotesk Key"/>
              <a:cs typeface="Cy Grotesk Key"/>
              <a:sym typeface="Cy Grotesk Key"/>
            </a:endParaRPr>
          </a:p>
          <a:p>
            <a:pPr marL="712462" lvl="1" indent="-356231" algn="l">
              <a:lnSpc>
                <a:spcPts val="6269"/>
              </a:lnSpc>
              <a:buFont typeface="Arial"/>
              <a:buChar char="•"/>
            </a:pP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</a:t>
            </a:r>
            <a:r>
              <a:rPr lang="en-US" sz="32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la </a:t>
            </a: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solvencia</a:t>
            </a:r>
            <a:endParaRPr lang="en-US" sz="3299" dirty="0">
              <a:solidFill>
                <a:srgbClr val="000000"/>
              </a:solidFill>
              <a:latin typeface="Cy Grotesk Key"/>
              <a:ea typeface="Cy Grotesk Key"/>
              <a:cs typeface="Cy Grotesk Key"/>
              <a:sym typeface="Cy Grotesk Key"/>
            </a:endParaRPr>
          </a:p>
          <a:p>
            <a:pPr marL="712462" lvl="1" indent="-356231" algn="l">
              <a:lnSpc>
                <a:spcPts val="6269"/>
              </a:lnSpc>
              <a:buFont typeface="Arial"/>
              <a:buChar char="•"/>
            </a:pP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</a:t>
            </a:r>
            <a:r>
              <a:rPr lang="en-US" sz="32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la </a:t>
            </a: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rentabilidad</a:t>
            </a:r>
            <a:endParaRPr lang="en-US" sz="3299" dirty="0">
              <a:solidFill>
                <a:srgbClr val="000000"/>
              </a:solidFill>
              <a:latin typeface="Cy Grotesk Key"/>
              <a:ea typeface="Cy Grotesk Key"/>
              <a:cs typeface="Cy Grotesk Key"/>
              <a:sym typeface="Cy Grotesk Key"/>
            </a:endParaRPr>
          </a:p>
          <a:p>
            <a:pPr marL="356231" lvl="1" algn="l">
              <a:lnSpc>
                <a:spcPts val="6269"/>
              </a:lnSpc>
            </a:pPr>
            <a:r>
              <a:rPr lang="en-US" sz="32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4.Técnicas del </a:t>
            </a: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</a:t>
            </a:r>
            <a:r>
              <a:rPr lang="en-US" sz="32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financiero</a:t>
            </a:r>
            <a:endParaRPr lang="en-US" sz="3299" dirty="0">
              <a:solidFill>
                <a:srgbClr val="000000"/>
              </a:solidFill>
              <a:latin typeface="Cy Grotesk Key"/>
              <a:ea typeface="Cy Grotesk Key"/>
              <a:cs typeface="Cy Grotesk Key"/>
              <a:sym typeface="Cy Grotesk Key"/>
            </a:endParaRPr>
          </a:p>
          <a:p>
            <a:pPr marL="712462" lvl="1" indent="-356231" algn="l">
              <a:lnSpc>
                <a:spcPts val="6269"/>
              </a:lnSpc>
              <a:buFont typeface="Arial"/>
              <a:buChar char="•"/>
            </a:pP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</a:t>
            </a:r>
            <a:r>
              <a:rPr lang="en-US" sz="32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estructural</a:t>
            </a:r>
            <a:endParaRPr lang="en-US" sz="3299" dirty="0">
              <a:solidFill>
                <a:srgbClr val="000000"/>
              </a:solidFill>
              <a:latin typeface="Cy Grotesk Key"/>
              <a:ea typeface="Cy Grotesk Key"/>
              <a:cs typeface="Cy Grotesk Key"/>
              <a:sym typeface="Cy Grotesk Key"/>
            </a:endParaRPr>
          </a:p>
          <a:p>
            <a:pPr marL="712462" lvl="1" indent="-356231" algn="l">
              <a:lnSpc>
                <a:spcPts val="6269"/>
              </a:lnSpc>
              <a:buFont typeface="Arial"/>
              <a:buChar char="•"/>
            </a:pP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</a:t>
            </a:r>
            <a:r>
              <a:rPr lang="en-US" sz="32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mediante</a:t>
            </a:r>
            <a:r>
              <a:rPr lang="en-US" sz="32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ratios </a:t>
            </a: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financieros</a:t>
            </a:r>
            <a:endParaRPr lang="en-US" sz="3299" dirty="0">
              <a:solidFill>
                <a:srgbClr val="000000"/>
              </a:solidFill>
              <a:latin typeface="Cy Grotesk Key"/>
              <a:ea typeface="Cy Grotesk Key"/>
              <a:cs typeface="Cy Grotesk Key"/>
              <a:sym typeface="Cy Grotesk Key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037921" y="1503996"/>
            <a:ext cx="8072279" cy="3888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6231" lvl="1" algn="l">
              <a:lnSpc>
                <a:spcPts val="6269"/>
              </a:lnSpc>
            </a:pPr>
            <a:r>
              <a:rPr lang="en-US" sz="32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5.Enfoques de </a:t>
            </a: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</a:t>
            </a:r>
            <a:r>
              <a:rPr lang="en-US" sz="32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financieros</a:t>
            </a:r>
            <a:endParaRPr lang="en-US" sz="3299" dirty="0">
              <a:solidFill>
                <a:srgbClr val="000000"/>
              </a:solidFill>
              <a:latin typeface="Cy Grotesk Key"/>
              <a:ea typeface="Cy Grotesk Key"/>
              <a:cs typeface="Cy Grotesk Key"/>
              <a:sym typeface="Cy Grotesk Key"/>
            </a:endParaRPr>
          </a:p>
          <a:p>
            <a:pPr marL="712462" lvl="1" indent="-356231" algn="l">
              <a:lnSpc>
                <a:spcPts val="6269"/>
              </a:lnSpc>
              <a:buFont typeface="Arial"/>
              <a:buChar char="•"/>
            </a:pP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Enfoque</a:t>
            </a:r>
            <a:r>
              <a:rPr lang="en-US" sz="32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sincrónico</a:t>
            </a:r>
            <a:endParaRPr lang="en-US" sz="3299" dirty="0">
              <a:solidFill>
                <a:srgbClr val="000000"/>
              </a:solidFill>
              <a:latin typeface="Cy Grotesk Key"/>
              <a:ea typeface="Cy Grotesk Key"/>
              <a:cs typeface="Cy Grotesk Key"/>
              <a:sym typeface="Cy Grotesk Key"/>
            </a:endParaRPr>
          </a:p>
          <a:p>
            <a:pPr marL="712462" lvl="1" indent="-356231" algn="l">
              <a:lnSpc>
                <a:spcPts val="6269"/>
              </a:lnSpc>
              <a:buFont typeface="Arial"/>
              <a:buChar char="•"/>
            </a:pP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Enfoque</a:t>
            </a:r>
            <a:r>
              <a:rPr lang="en-US" sz="32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diacrónico</a:t>
            </a:r>
            <a:endParaRPr lang="en-US" sz="3299" dirty="0">
              <a:solidFill>
                <a:srgbClr val="000000"/>
              </a:solidFill>
              <a:latin typeface="Cy Grotesk Key"/>
              <a:ea typeface="Cy Grotesk Key"/>
              <a:cs typeface="Cy Grotesk Key"/>
              <a:sym typeface="Cy Grotesk Key"/>
            </a:endParaRPr>
          </a:p>
          <a:p>
            <a:pPr marL="712462" lvl="1" indent="-356231" algn="l">
              <a:lnSpc>
                <a:spcPts val="6269"/>
              </a:lnSpc>
              <a:buFont typeface="Arial"/>
              <a:buChar char="•"/>
            </a:pP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Analisis</a:t>
            </a:r>
            <a:r>
              <a:rPr lang="en-US" sz="32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2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datos</a:t>
            </a:r>
            <a:r>
              <a:rPr lang="en-US" sz="32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panel</a:t>
            </a:r>
          </a:p>
          <a:p>
            <a:pPr marL="356231" lvl="1" algn="l">
              <a:lnSpc>
                <a:spcPts val="626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6.Conclusión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58570" y="224153"/>
            <a:ext cx="4873585" cy="804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9"/>
              </a:lnSpc>
              <a:spcBef>
                <a:spcPct val="0"/>
              </a:spcBef>
            </a:pPr>
            <a:r>
              <a:rPr lang="en-US" sz="4699" u="sng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INTRODUCCIÓN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1196" y="1177336"/>
            <a:ext cx="17785607" cy="4874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Toda empresa necesita conocer su situación económica y financiera para tomar decisiones adecuadas. Los estados financieros proporcionan información sobre los recursos, obligaciones, ingresos y gastos de una organización.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Sin embargo, los estados financieros por sí solos no son suficientes; es necesario analizarlos para comprender qué significan los datos y cómo afectan el desempeño de la empresa.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El análisis financiero permite transformar datos contables en información útil para la toma de decisiones.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endParaRPr lang="en-US" sz="3099">
              <a:solidFill>
                <a:srgbClr val="000000"/>
              </a:solidFill>
              <a:latin typeface="Cy Grotesk Key"/>
              <a:ea typeface="Cy Grotesk Key"/>
              <a:cs typeface="Cy Grotesk Key"/>
              <a:sym typeface="Cy Grotesk Key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51196" y="5752829"/>
            <a:ext cx="9807204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1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¿</a:t>
            </a: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Qué</a:t>
            </a:r>
            <a:r>
              <a:rPr lang="en-US" sz="3099" b="1" u="sng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es </a:t>
            </a: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el</a:t>
            </a:r>
            <a:r>
              <a:rPr lang="en-US" sz="3099" b="1" u="sng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</a:t>
            </a: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análisis</a:t>
            </a:r>
            <a:r>
              <a:rPr lang="en-US" sz="3099" b="1" u="sng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de </a:t>
            </a: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los</a:t>
            </a:r>
            <a:r>
              <a:rPr lang="en-US" sz="3099" b="1" u="sng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</a:t>
            </a: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estados</a:t>
            </a:r>
            <a:r>
              <a:rPr lang="en-US" sz="3099" b="1" u="sng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</a:t>
            </a: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financieros</a:t>
            </a:r>
            <a:r>
              <a:rPr lang="en-US" sz="3099" b="1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1196" y="6363654"/>
            <a:ext cx="17785607" cy="3245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Es el proceso de examinar, interpretar y evaluar la información contenida en los estados financieros con el propósito de determinar la situación económica y financiera de una empresa.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Implica comparar cifras, calcular indicadores y extraer conclusiones que faciliten la toma de decisiones.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endParaRPr lang="en-US" sz="3099">
              <a:solidFill>
                <a:srgbClr val="000000"/>
              </a:solidFill>
              <a:latin typeface="Cy Grotesk Key"/>
              <a:ea typeface="Cy Grotesk Key"/>
              <a:cs typeface="Cy Grotesk Key"/>
              <a:sym typeface="Cy Grotesk Ke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696" y="326390"/>
            <a:ext cx="9990827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 u="sng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Importancia del análisis de estados financieros</a:t>
            </a:r>
            <a:r>
              <a:rPr lang="en-US" sz="3099" b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4696" y="962025"/>
            <a:ext cx="17508376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La importancia del análisis financiero radica en que permite conocer la verdadera situación de una empresa y evaluar su desempeño desde diferentes perspectivas.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5461" y="2782289"/>
            <a:ext cx="17747610" cy="4874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Facilita la toma de decisiones gerenciales.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Permite identificar fortalezas y debilidades financieras.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Ayuda a detectar problemas antes de que se conviertan en crisis.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Permite evaluar la eficiencia en el uso de los recursos.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Facilita la planificación y el control financiero.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Mejora la capacidad para obtener financiamiento externo.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Sirve como base para elaborar presupuestos y proyecciones.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Permite comparar el desempeño de la empresa con períodos anteriores o con empresas del mismo sector.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4696" y="1999156"/>
            <a:ext cx="8775504" cy="646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Entre sus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principales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beneficios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destacan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4696" y="7904866"/>
            <a:ext cx="18144478" cy="1616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 un entorno empresarial cada vez más competitivo, el análisis financiero constituye una herramienta fundamental para garantizar la sostenibilidad y el crecimiento de las organizaciones.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1022" y="2699697"/>
            <a:ext cx="4724377" cy="646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Objetivos</a:t>
            </a: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específicos</a:t>
            </a: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6921" y="3357560"/>
            <a:ext cx="18114158" cy="6503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Evaluar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liquidez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Determinar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si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posee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suficientes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recursos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para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cumplir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con sus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obligaciones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corto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plazo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Analizar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solvencia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Verificar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capacidad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para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hacer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frente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a sus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deudas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a largo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plazo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Medir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rentabilidad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Determinar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si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genera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utilidades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adecuadas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relación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con sus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ventas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,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activos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y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patrimonio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Analizar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eficiencia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operativa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Evaluar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cómo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se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utilizan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recursos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disponibles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para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generar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ingresos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Determinar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el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nivel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endeudamiento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Identificar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el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grado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dependencia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financiera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respecto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terceros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Apoyar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toma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decisiones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Proporcionar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información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para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decisiones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inversión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,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financiamiento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y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gestión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9153" y="1638939"/>
            <a:ext cx="17898847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Evaluar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situación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económica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y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financiera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una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para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apoyar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toma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decisiones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1023" y="497839"/>
            <a:ext cx="6934177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Objetivos</a:t>
            </a:r>
            <a:r>
              <a:rPr lang="en-US" sz="3099" b="1" u="sng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del </a:t>
            </a: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análisis</a:t>
            </a:r>
            <a:r>
              <a:rPr lang="en-US" sz="3099" b="1" u="sng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</a:t>
            </a: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financiero</a:t>
            </a:r>
            <a:r>
              <a:rPr lang="en-US" sz="3099" b="1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5964" y="1142676"/>
            <a:ext cx="3500236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Objetivo</a:t>
            </a: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general: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6214" y="156663"/>
            <a:ext cx="14919186" cy="976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29"/>
              </a:lnSpc>
              <a:spcBef>
                <a:spcPct val="0"/>
              </a:spcBef>
            </a:pPr>
            <a:r>
              <a:rPr lang="en-US" sz="4699" u="sng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ÁREAS PRINCIPALES DEL ANÁLISIS FINANCIERO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330744"/>
            <a:ext cx="5857173" cy="676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3" lvl="1" indent="-334641" algn="l">
              <a:lnSpc>
                <a:spcPts val="5889"/>
              </a:lnSpc>
              <a:spcBef>
                <a:spcPct val="0"/>
              </a:spcBef>
              <a:buAutoNum type="arabicPeriod"/>
            </a:pPr>
            <a:r>
              <a:rPr lang="en-US" sz="3099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u="sng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 de la liquidez</a:t>
            </a:r>
            <a:r>
              <a:rPr lang="en-US" sz="3099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5645" y="1940982"/>
            <a:ext cx="17265705" cy="2702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La liquidez representa la capacidad que tiene una empresa para cumplir oportunamente con sus obligaciones de corto plazo utilizando sus activos corrientes.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 otras palabras, permite determinar si la empresa dispone de suficiente efectivo o recursos fácilmente convertibles en dinero para pagar sus deudas inmediatas.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5645" y="4633593"/>
            <a:ext cx="5447824" cy="676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9"/>
              </a:lnSpc>
              <a:spcBef>
                <a:spcPct val="0"/>
              </a:spcBef>
            </a:pP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Importancia</a:t>
            </a:r>
            <a:r>
              <a:rPr lang="en-US" sz="3099" b="1" u="sng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de la </a:t>
            </a: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liquidez</a:t>
            </a:r>
            <a:r>
              <a:rPr lang="en-US" sz="3099" b="1" u="sng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5645" y="5310506"/>
            <a:ext cx="17932355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Una empresa puede ser rentable y, sin embargo, enfrentar problemas financieros si no cuenta con efectivo suficiente para cubrir sus obligaciones diarias.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5645" y="6308092"/>
            <a:ext cx="7188155" cy="646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falta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liquidez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puede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generar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4470" y="7051255"/>
            <a:ext cx="6508051" cy="215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Incumplimiento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pagos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Problemas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con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proveedores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Pérdida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credibilidad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Dificultades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operativas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09263" y="2082641"/>
            <a:ext cx="5869473" cy="1795482"/>
          </a:xfrm>
          <a:custGeom>
            <a:avLst/>
            <a:gdLst/>
            <a:ahLst/>
            <a:cxnLst/>
            <a:rect l="l" t="t" r="r" b="b"/>
            <a:pathLst>
              <a:path w="5869473" h="1795482">
                <a:moveTo>
                  <a:pt x="0" y="0"/>
                </a:moveTo>
                <a:lnTo>
                  <a:pt x="5869474" y="0"/>
                </a:lnTo>
                <a:lnTo>
                  <a:pt x="5869474" y="1795482"/>
                </a:lnTo>
                <a:lnTo>
                  <a:pt x="0" y="1795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4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413" y="5542743"/>
            <a:ext cx="8201174" cy="1417168"/>
          </a:xfrm>
          <a:custGeom>
            <a:avLst/>
            <a:gdLst/>
            <a:ahLst/>
            <a:cxnLst/>
            <a:rect l="l" t="t" r="r" b="b"/>
            <a:pathLst>
              <a:path w="8201174" h="1417168">
                <a:moveTo>
                  <a:pt x="0" y="0"/>
                </a:moveTo>
                <a:lnTo>
                  <a:pt x="8201174" y="0"/>
                </a:lnTo>
                <a:lnTo>
                  <a:pt x="8201174" y="1417168"/>
                </a:lnTo>
                <a:lnTo>
                  <a:pt x="0" y="14171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39" b="-155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173587" y="8643581"/>
            <a:ext cx="9940827" cy="619867"/>
          </a:xfrm>
          <a:custGeom>
            <a:avLst/>
            <a:gdLst/>
            <a:ahLst/>
            <a:cxnLst/>
            <a:rect l="l" t="t" r="r" b="b"/>
            <a:pathLst>
              <a:path w="9940827" h="619867">
                <a:moveTo>
                  <a:pt x="0" y="0"/>
                </a:moveTo>
                <a:lnTo>
                  <a:pt x="9940826" y="0"/>
                </a:lnTo>
                <a:lnTo>
                  <a:pt x="9940826" y="619867"/>
                </a:lnTo>
                <a:lnTo>
                  <a:pt x="0" y="619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03555" y="351787"/>
            <a:ext cx="5869473" cy="646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9"/>
              </a:lnSpc>
              <a:spcBef>
                <a:spcPct val="0"/>
              </a:spcBef>
            </a:pP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Indicadores</a:t>
            </a:r>
            <a:r>
              <a:rPr lang="en-US" sz="3099" b="1" u="sng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</a:t>
            </a: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más</a:t>
            </a:r>
            <a:r>
              <a:rPr lang="en-US" sz="3099" b="1" u="sng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</a:t>
            </a: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utilizados</a:t>
            </a:r>
            <a:r>
              <a:rPr lang="en-US" sz="3099" b="1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3556" y="1115433"/>
            <a:ext cx="3733086" cy="646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9"/>
              </a:lnSpc>
              <a:spcBef>
                <a:spcPct val="0"/>
              </a:spcBef>
            </a:pP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Razón </a:t>
            </a:r>
            <a:r>
              <a:rPr lang="en-US" sz="3099" dirty="0" err="1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corriente</a:t>
            </a: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3556" y="4466587"/>
            <a:ext cx="2825444" cy="646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Prueba</a:t>
            </a: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ácida</a:t>
            </a: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556" y="7357068"/>
            <a:ext cx="3892244" cy="646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9"/>
              </a:lnSpc>
              <a:spcBef>
                <a:spcPct val="0"/>
              </a:spcBef>
            </a:pP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Capital de </a:t>
            </a:r>
            <a:r>
              <a:rPr lang="en-US" sz="3099" dirty="0" err="1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trabajo</a:t>
            </a: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77357" y="1840231"/>
            <a:ext cx="8933286" cy="1864032"/>
          </a:xfrm>
          <a:custGeom>
            <a:avLst/>
            <a:gdLst/>
            <a:ahLst/>
            <a:cxnLst/>
            <a:rect l="l" t="t" r="r" b="b"/>
            <a:pathLst>
              <a:path w="8933286" h="1864032">
                <a:moveTo>
                  <a:pt x="0" y="0"/>
                </a:moveTo>
                <a:lnTo>
                  <a:pt x="8933286" y="0"/>
                </a:lnTo>
                <a:lnTo>
                  <a:pt x="8933286" y="1864033"/>
                </a:lnTo>
                <a:lnTo>
                  <a:pt x="0" y="1864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976994" y="4514526"/>
            <a:ext cx="6334012" cy="2688023"/>
          </a:xfrm>
          <a:custGeom>
            <a:avLst/>
            <a:gdLst/>
            <a:ahLst/>
            <a:cxnLst/>
            <a:rect l="l" t="t" r="r" b="b"/>
            <a:pathLst>
              <a:path w="6334012" h="2688023">
                <a:moveTo>
                  <a:pt x="0" y="0"/>
                </a:moveTo>
                <a:lnTo>
                  <a:pt x="6334012" y="0"/>
                </a:lnTo>
                <a:lnTo>
                  <a:pt x="6334012" y="2688024"/>
                </a:lnTo>
                <a:lnTo>
                  <a:pt x="0" y="2688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084874" y="214626"/>
            <a:ext cx="4497526" cy="76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29"/>
              </a:lnSpc>
              <a:spcBef>
                <a:spcPct val="0"/>
              </a:spcBef>
            </a:pPr>
            <a:r>
              <a:rPr lang="en-US" sz="3699" b="1" u="sng" dirty="0">
                <a:solidFill>
                  <a:srgbClr val="54DF64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CASO PRÁCTICO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8800" y="1131695"/>
            <a:ext cx="14706600" cy="646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Comencial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Andina S.A.C.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presenta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siguiente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información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800" y="3666164"/>
            <a:ext cx="6070600" cy="646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Cálculo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razón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corriente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8800" y="7307325"/>
            <a:ext cx="16865600" cy="215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Conclusión:</a:t>
            </a:r>
          </a:p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La empresa posee S/. 2 de activos corrientes por cada S/. 1 de deuda de corto plazo; por ende presente una buena liquidez y tiene capacidad suficiente para cumplir con obligaciones inmediatas.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45139" y="5312329"/>
            <a:ext cx="6019155" cy="4714687"/>
          </a:xfrm>
          <a:custGeom>
            <a:avLst/>
            <a:gdLst/>
            <a:ahLst/>
            <a:cxnLst/>
            <a:rect l="l" t="t" r="r" b="b"/>
            <a:pathLst>
              <a:path w="6019155" h="4714687">
                <a:moveTo>
                  <a:pt x="0" y="0"/>
                </a:moveTo>
                <a:lnTo>
                  <a:pt x="6019156" y="0"/>
                </a:lnTo>
                <a:lnTo>
                  <a:pt x="6019156" y="4714686"/>
                </a:lnTo>
                <a:lnTo>
                  <a:pt x="0" y="4714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87" r="-17512" b="-2093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3141" y="351787"/>
            <a:ext cx="5771792" cy="646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9283" lvl="1" indent="-334641" algn="l">
              <a:lnSpc>
                <a:spcPts val="5889"/>
              </a:lnSpc>
              <a:spcBef>
                <a:spcPct val="0"/>
              </a:spcBef>
              <a:buAutoNum type="arabicPeriod"/>
            </a:pPr>
            <a:r>
              <a:rPr lang="en-US" sz="3099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u="sng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</a:t>
            </a:r>
            <a:r>
              <a:rPr lang="en-US" sz="3099" u="sng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la </a:t>
            </a:r>
            <a:r>
              <a:rPr lang="en-US" sz="3099" u="sng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solvencia</a:t>
            </a:r>
            <a:r>
              <a:rPr lang="en-US" sz="3099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0623" y="1114767"/>
            <a:ext cx="17857377" cy="215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solvencia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mide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capacidad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una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para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cumplir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sus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obligaciones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largo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plazo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y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mantenerse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operativa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el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tiempo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algn="l">
              <a:lnSpc>
                <a:spcPts val="4339"/>
              </a:lnSpc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Mientras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liquidez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se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enfoca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el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corto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plazo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,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solvencia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analiza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estabilidad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financiera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a largo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plazo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0623" y="3412086"/>
            <a:ext cx="5771793" cy="676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9"/>
              </a:lnSpc>
              <a:spcBef>
                <a:spcPct val="0"/>
              </a:spcBef>
            </a:pP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Importancia</a:t>
            </a:r>
            <a:r>
              <a:rPr lang="en-US" sz="3099" b="1" u="sng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de la </a:t>
            </a: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solvencia</a:t>
            </a:r>
            <a:r>
              <a:rPr lang="en-US" sz="3099" b="1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0623" y="4174724"/>
            <a:ext cx="17857377" cy="1616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Una empresa solvente posee una estructura financiera sólida y puede afrontar sus compromisos futuros sin comprometer su continuidad. 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Evaluando aspectos como: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3141" y="5877160"/>
            <a:ext cx="8846939" cy="215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Nivel de endeudamiento.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Capacidad de pago futura.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Dependencia de financiamiento externo.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Solidez patrimonial.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40638" y="1733066"/>
            <a:ext cx="4406725" cy="1809384"/>
          </a:xfrm>
          <a:custGeom>
            <a:avLst/>
            <a:gdLst/>
            <a:ahLst/>
            <a:cxnLst/>
            <a:rect l="l" t="t" r="r" b="b"/>
            <a:pathLst>
              <a:path w="4406725" h="1809384">
                <a:moveTo>
                  <a:pt x="0" y="0"/>
                </a:moveTo>
                <a:lnTo>
                  <a:pt x="4406724" y="0"/>
                </a:lnTo>
                <a:lnTo>
                  <a:pt x="4406724" y="1809384"/>
                </a:lnTo>
                <a:lnTo>
                  <a:pt x="0" y="1809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006013" y="4482886"/>
            <a:ext cx="4275975" cy="2094355"/>
          </a:xfrm>
          <a:custGeom>
            <a:avLst/>
            <a:gdLst/>
            <a:ahLst/>
            <a:cxnLst/>
            <a:rect l="l" t="t" r="r" b="b"/>
            <a:pathLst>
              <a:path w="4275975" h="2094355">
                <a:moveTo>
                  <a:pt x="0" y="0"/>
                </a:moveTo>
                <a:lnTo>
                  <a:pt x="4275974" y="0"/>
                </a:lnTo>
                <a:lnTo>
                  <a:pt x="4275974" y="2094355"/>
                </a:lnTo>
                <a:lnTo>
                  <a:pt x="0" y="2094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013116" y="7711604"/>
            <a:ext cx="4261767" cy="1950809"/>
          </a:xfrm>
          <a:custGeom>
            <a:avLst/>
            <a:gdLst/>
            <a:ahLst/>
            <a:cxnLst/>
            <a:rect l="l" t="t" r="r" b="b"/>
            <a:pathLst>
              <a:path w="4261767" h="1950809">
                <a:moveTo>
                  <a:pt x="0" y="0"/>
                </a:moveTo>
                <a:lnTo>
                  <a:pt x="4261768" y="0"/>
                </a:lnTo>
                <a:lnTo>
                  <a:pt x="4261768" y="1950809"/>
                </a:lnTo>
                <a:lnTo>
                  <a:pt x="0" y="19508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60014" y="497839"/>
            <a:ext cx="5712185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Indicadores</a:t>
            </a:r>
            <a:r>
              <a:rPr lang="en-US" sz="3099" b="1" u="sng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</a:t>
            </a: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más</a:t>
            </a:r>
            <a:r>
              <a:rPr lang="en-US" sz="3099" b="1" u="sng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</a:t>
            </a: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utilizados</a:t>
            </a:r>
            <a:r>
              <a:rPr lang="en-US" sz="3099" b="1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0015" y="1202206"/>
            <a:ext cx="4573280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Endeudamiento</a:t>
            </a: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total: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0014" y="3713900"/>
            <a:ext cx="7693386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Razón de </a:t>
            </a:r>
            <a:r>
              <a:rPr lang="en-US" sz="3099" dirty="0" err="1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endeudamiento</a:t>
            </a: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patrimonial: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0015" y="6752451"/>
            <a:ext cx="4573280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Autonomía</a:t>
            </a: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financiera</a:t>
            </a: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85873" y="1948339"/>
            <a:ext cx="7716255" cy="1564516"/>
          </a:xfrm>
          <a:custGeom>
            <a:avLst/>
            <a:gdLst/>
            <a:ahLst/>
            <a:cxnLst/>
            <a:rect l="l" t="t" r="r" b="b"/>
            <a:pathLst>
              <a:path w="7716255" h="1564516">
                <a:moveTo>
                  <a:pt x="0" y="0"/>
                </a:moveTo>
                <a:lnTo>
                  <a:pt x="7716254" y="0"/>
                </a:lnTo>
                <a:lnTo>
                  <a:pt x="7716254" y="1564517"/>
                </a:lnTo>
                <a:lnTo>
                  <a:pt x="0" y="1564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89194" y="4434241"/>
            <a:ext cx="5456727" cy="3523241"/>
          </a:xfrm>
          <a:custGeom>
            <a:avLst/>
            <a:gdLst/>
            <a:ahLst/>
            <a:cxnLst/>
            <a:rect l="l" t="t" r="r" b="b"/>
            <a:pathLst>
              <a:path w="5456727" h="3523241">
                <a:moveTo>
                  <a:pt x="0" y="0"/>
                </a:moveTo>
                <a:lnTo>
                  <a:pt x="5456727" y="0"/>
                </a:lnTo>
                <a:lnTo>
                  <a:pt x="5456727" y="3523241"/>
                </a:lnTo>
                <a:lnTo>
                  <a:pt x="0" y="3523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084874" y="389254"/>
            <a:ext cx="4268926" cy="595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 u="sng" dirty="0">
                <a:solidFill>
                  <a:srgbClr val="54DF64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CASO PRÁCTICO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8000" y="1188879"/>
            <a:ext cx="8458200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La empresa Industrial Perú S.A. presenta: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8000" y="3674781"/>
            <a:ext cx="6807200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Cálculo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del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endeudamiento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total: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8000" y="7890807"/>
            <a:ext cx="17259300" cy="215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Conclusión: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El 50% de los activos de la empresa ha sido financiado mediante deuda. El otro 50% pertenece a los propietarios. Debido a ello la empresa mantiene un nivel de endeudamiento moderado y una estructura financiera equilibrada.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14939" y="3641874"/>
            <a:ext cx="7694367" cy="5100998"/>
          </a:xfrm>
          <a:custGeom>
            <a:avLst/>
            <a:gdLst/>
            <a:ahLst/>
            <a:cxnLst/>
            <a:rect l="l" t="t" r="r" b="b"/>
            <a:pathLst>
              <a:path w="7694367" h="5100998">
                <a:moveTo>
                  <a:pt x="0" y="0"/>
                </a:moveTo>
                <a:lnTo>
                  <a:pt x="7694367" y="0"/>
                </a:lnTo>
                <a:lnTo>
                  <a:pt x="7694367" y="5100998"/>
                </a:lnTo>
                <a:lnTo>
                  <a:pt x="0" y="5100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453" t="-8156" r="-3189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1126" y="351787"/>
            <a:ext cx="5858673" cy="646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9283" lvl="1" indent="-334641" algn="l">
              <a:lnSpc>
                <a:spcPts val="5889"/>
              </a:lnSpc>
              <a:spcBef>
                <a:spcPct val="0"/>
              </a:spcBef>
              <a:buAutoNum type="arabicPeriod"/>
            </a:pPr>
            <a:r>
              <a:rPr lang="en-US" sz="3099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u="sng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</a:t>
            </a:r>
            <a:r>
              <a:rPr lang="en-US" sz="3099" u="sng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u="sng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rentabilidad</a:t>
            </a:r>
            <a:r>
              <a:rPr lang="en-US" sz="3099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4546" y="1111082"/>
            <a:ext cx="17833454" cy="215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La rentabilidad mide la capacidad de una empresa para generar utilidades a partir de los recursos invertidos.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Es uno de los aspectos más importantes porque determina si la organización está creando valor para sus propietarios.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4546" y="3432324"/>
            <a:ext cx="6359128" cy="676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9"/>
              </a:lnSpc>
              <a:spcBef>
                <a:spcPct val="0"/>
              </a:spcBef>
            </a:pPr>
            <a:r>
              <a:rPr lang="en-US" sz="3099" b="1" u="sng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Importancia de la rentabilidad</a:t>
            </a:r>
            <a:r>
              <a:rPr lang="en-US" sz="3099" b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4546" y="4052087"/>
            <a:ext cx="3660254" cy="646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Permite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conocer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1127" y="4814725"/>
            <a:ext cx="9633823" cy="215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La eficiencia en la generación de beneficios.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El rendimiento de los activos.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La rentabilidad obtenida por los accionistas.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La capacidad de crecimiento de la empresa.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31493" y="1963533"/>
            <a:ext cx="4025013" cy="1786100"/>
          </a:xfrm>
          <a:custGeom>
            <a:avLst/>
            <a:gdLst/>
            <a:ahLst/>
            <a:cxnLst/>
            <a:rect l="l" t="t" r="r" b="b"/>
            <a:pathLst>
              <a:path w="4025013" h="1786100">
                <a:moveTo>
                  <a:pt x="0" y="0"/>
                </a:moveTo>
                <a:lnTo>
                  <a:pt x="4025014" y="0"/>
                </a:lnTo>
                <a:lnTo>
                  <a:pt x="4025014" y="1786099"/>
                </a:lnTo>
                <a:lnTo>
                  <a:pt x="0" y="17860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073516" y="4995112"/>
            <a:ext cx="4140968" cy="1712623"/>
          </a:xfrm>
          <a:custGeom>
            <a:avLst/>
            <a:gdLst/>
            <a:ahLst/>
            <a:cxnLst/>
            <a:rect l="l" t="t" r="r" b="b"/>
            <a:pathLst>
              <a:path w="4140968" h="1712623">
                <a:moveTo>
                  <a:pt x="0" y="0"/>
                </a:moveTo>
                <a:lnTo>
                  <a:pt x="4140968" y="0"/>
                </a:lnTo>
                <a:lnTo>
                  <a:pt x="4140968" y="1712623"/>
                </a:lnTo>
                <a:lnTo>
                  <a:pt x="0" y="1712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053683" y="7955510"/>
            <a:ext cx="4180634" cy="1729028"/>
          </a:xfrm>
          <a:custGeom>
            <a:avLst/>
            <a:gdLst/>
            <a:ahLst/>
            <a:cxnLst/>
            <a:rect l="l" t="t" r="r" b="b"/>
            <a:pathLst>
              <a:path w="4180634" h="1729028">
                <a:moveTo>
                  <a:pt x="0" y="0"/>
                </a:moveTo>
                <a:lnTo>
                  <a:pt x="4180634" y="0"/>
                </a:lnTo>
                <a:lnTo>
                  <a:pt x="4180634" y="1729028"/>
                </a:lnTo>
                <a:lnTo>
                  <a:pt x="0" y="17290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27080" y="497839"/>
            <a:ext cx="5656406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 u="sng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Indicadores más utilizados</a:t>
            </a:r>
            <a:r>
              <a:rPr lang="en-US" sz="3099" b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7080" y="1232288"/>
            <a:ext cx="2825720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Margen</a:t>
            </a: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neto</a:t>
            </a: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7080" y="4150951"/>
            <a:ext cx="5035520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ROA (Return On Assets)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7080" y="7072587"/>
            <a:ext cx="4879280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ROE (Return On Equity):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38266" y="1892618"/>
            <a:ext cx="7811468" cy="1635669"/>
          </a:xfrm>
          <a:custGeom>
            <a:avLst/>
            <a:gdLst/>
            <a:ahLst/>
            <a:cxnLst/>
            <a:rect l="l" t="t" r="r" b="b"/>
            <a:pathLst>
              <a:path w="7811468" h="1635669">
                <a:moveTo>
                  <a:pt x="0" y="0"/>
                </a:moveTo>
                <a:lnTo>
                  <a:pt x="7811468" y="0"/>
                </a:lnTo>
                <a:lnTo>
                  <a:pt x="7811468" y="1635669"/>
                </a:lnTo>
                <a:lnTo>
                  <a:pt x="0" y="16356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521314" y="4392523"/>
            <a:ext cx="7245371" cy="3096178"/>
          </a:xfrm>
          <a:custGeom>
            <a:avLst/>
            <a:gdLst/>
            <a:ahLst/>
            <a:cxnLst/>
            <a:rect l="l" t="t" r="r" b="b"/>
            <a:pathLst>
              <a:path w="7245371" h="3096178">
                <a:moveTo>
                  <a:pt x="0" y="0"/>
                </a:moveTo>
                <a:lnTo>
                  <a:pt x="7245372" y="0"/>
                </a:lnTo>
                <a:lnTo>
                  <a:pt x="7245372" y="3096178"/>
                </a:lnTo>
                <a:lnTo>
                  <a:pt x="0" y="30961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084874" y="389254"/>
            <a:ext cx="4268926" cy="595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 u="sng" dirty="0">
                <a:solidFill>
                  <a:srgbClr val="54DF64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CASO PRÁCTICO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5126" y="1161732"/>
            <a:ext cx="9370874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Textiles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Modernos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S.A.C.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obtuvo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5126" y="3661637"/>
            <a:ext cx="5332274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Cálculo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del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márgen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neto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5126" y="7622051"/>
            <a:ext cx="17449800" cy="215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Conclusión: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Por cada S/. 100 vendidos, la empresa obtiene S/. 20 de ganancia neta. Debido a ello, la empresa presenta una rentabilidad favorable, ya que convierte el 20% de sus ventas en utilidad.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59727" y="8320683"/>
            <a:ext cx="3968545" cy="1564364"/>
          </a:xfrm>
          <a:custGeom>
            <a:avLst/>
            <a:gdLst/>
            <a:ahLst/>
            <a:cxnLst/>
            <a:rect l="l" t="t" r="r" b="b"/>
            <a:pathLst>
              <a:path w="3968545" h="1564364">
                <a:moveTo>
                  <a:pt x="0" y="0"/>
                </a:moveTo>
                <a:lnTo>
                  <a:pt x="3968546" y="0"/>
                </a:lnTo>
                <a:lnTo>
                  <a:pt x="3968546" y="1564364"/>
                </a:lnTo>
                <a:lnTo>
                  <a:pt x="0" y="1564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455200" y="401953"/>
            <a:ext cx="9489400" cy="755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 u="sng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Técnicas</a:t>
            </a:r>
            <a:r>
              <a:rPr lang="en-US" sz="4699" u="sng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4699" u="sng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</a:t>
            </a:r>
            <a:r>
              <a:rPr lang="en-US" sz="4699" u="sng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4699" u="sng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financiero</a:t>
            </a:r>
            <a:endParaRPr lang="en-US" sz="4699" u="sng" dirty="0">
              <a:solidFill>
                <a:srgbClr val="FF0000"/>
              </a:solidFill>
              <a:latin typeface="Cy Grotesk Key"/>
              <a:ea typeface="Cy Grotesk Key"/>
              <a:cs typeface="Cy Grotesk Key"/>
              <a:sym typeface="Cy Grotesk Key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81000" y="1339532"/>
            <a:ext cx="17907000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Para interpretar adecuadamente los estados financieros se emplean diferentes técnicas.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2546668"/>
            <a:ext cx="5029200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spcBef>
                <a:spcPct val="0"/>
              </a:spcBef>
              <a:buAutoNum type="arabicPeriod"/>
            </a:pPr>
            <a:r>
              <a:rPr lang="en-US" sz="3099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u="sng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</a:t>
            </a:r>
            <a:r>
              <a:rPr lang="en-US" sz="3099" u="sng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u="sng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estructural</a:t>
            </a:r>
            <a:r>
              <a:rPr lang="en-US" sz="3099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1000" y="3040123"/>
            <a:ext cx="16078200" cy="1044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39"/>
              </a:lnSpc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Consiste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estudiar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composición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y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estructura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estados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financieros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Se divide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1000" y="4217990"/>
            <a:ext cx="3410664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 u="sng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Análisis vertical</a:t>
            </a:r>
            <a:r>
              <a:rPr lang="en-US" sz="3099" b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1000" y="4882200"/>
            <a:ext cx="17482661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Examina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participación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porcentual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cada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cuenta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dentro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un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registro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total.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8743" y="5546411"/>
            <a:ext cx="1981676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Objetivos: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468" y="6010597"/>
            <a:ext cx="9548932" cy="16167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Conocer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composición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financiera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Identificar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partidas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significativas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Evaluar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estructura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activos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y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pasivos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8408" y="7756687"/>
            <a:ext cx="1981676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Fórmula</a:t>
            </a:r>
            <a:r>
              <a:rPr lang="en-US" sz="3099" dirty="0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36468" y="1851661"/>
            <a:ext cx="6415064" cy="2155061"/>
          </a:xfrm>
          <a:custGeom>
            <a:avLst/>
            <a:gdLst/>
            <a:ahLst/>
            <a:cxnLst/>
            <a:rect l="l" t="t" r="r" b="b"/>
            <a:pathLst>
              <a:path w="6415064" h="2155061">
                <a:moveTo>
                  <a:pt x="0" y="0"/>
                </a:moveTo>
                <a:lnTo>
                  <a:pt x="6415064" y="0"/>
                </a:lnTo>
                <a:lnTo>
                  <a:pt x="6415064" y="2155061"/>
                </a:lnTo>
                <a:lnTo>
                  <a:pt x="0" y="21550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9791" y="5646230"/>
            <a:ext cx="5125646" cy="1268380"/>
          </a:xfrm>
          <a:custGeom>
            <a:avLst/>
            <a:gdLst/>
            <a:ahLst/>
            <a:cxnLst/>
            <a:rect l="l" t="t" r="r" b="b"/>
            <a:pathLst>
              <a:path w="5125646" h="1268380">
                <a:moveTo>
                  <a:pt x="0" y="0"/>
                </a:moveTo>
                <a:lnTo>
                  <a:pt x="5125646" y="0"/>
                </a:lnTo>
                <a:lnTo>
                  <a:pt x="5125646" y="1268380"/>
                </a:lnTo>
                <a:lnTo>
                  <a:pt x="0" y="1268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448028" y="5646230"/>
            <a:ext cx="5004020" cy="1268380"/>
          </a:xfrm>
          <a:custGeom>
            <a:avLst/>
            <a:gdLst/>
            <a:ahLst/>
            <a:cxnLst/>
            <a:rect l="l" t="t" r="r" b="b"/>
            <a:pathLst>
              <a:path w="5004020" h="1268380">
                <a:moveTo>
                  <a:pt x="0" y="0"/>
                </a:moveTo>
                <a:lnTo>
                  <a:pt x="5004021" y="0"/>
                </a:lnTo>
                <a:lnTo>
                  <a:pt x="5004021" y="1268380"/>
                </a:lnTo>
                <a:lnTo>
                  <a:pt x="0" y="1268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157414" y="5688715"/>
            <a:ext cx="5101886" cy="1225895"/>
          </a:xfrm>
          <a:custGeom>
            <a:avLst/>
            <a:gdLst/>
            <a:ahLst/>
            <a:cxnLst/>
            <a:rect l="l" t="t" r="r" b="b"/>
            <a:pathLst>
              <a:path w="5101886" h="1225895">
                <a:moveTo>
                  <a:pt x="0" y="0"/>
                </a:moveTo>
                <a:lnTo>
                  <a:pt x="5101886" y="0"/>
                </a:lnTo>
                <a:lnTo>
                  <a:pt x="5101886" y="1225895"/>
                </a:lnTo>
                <a:lnTo>
                  <a:pt x="0" y="12258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084874" y="389254"/>
            <a:ext cx="4367174" cy="595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 u="sng" dirty="0">
                <a:solidFill>
                  <a:srgbClr val="54DF64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CASO PRÁCTICO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9790" y="1139825"/>
            <a:ext cx="9965809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Servicios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Integrales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S.A.C.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presenta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9791" y="4121022"/>
            <a:ext cx="1736209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Cálculo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9791" y="4703698"/>
            <a:ext cx="1279009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Caja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48028" y="4703698"/>
            <a:ext cx="1603772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Bancos: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57414" y="4703698"/>
            <a:ext cx="2549186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Inventarios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9791" y="7305135"/>
            <a:ext cx="17752497" cy="215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Conclusión: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La estructura financiera de la empresa muestra una concentración significativa en inventarios, por lo que la empresa debe controlar adecuadamente su rotación para evitar pérdidas o una inmovilización en sus recursos.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83303" y="5530751"/>
            <a:ext cx="11921394" cy="878063"/>
          </a:xfrm>
          <a:custGeom>
            <a:avLst/>
            <a:gdLst/>
            <a:ahLst/>
            <a:cxnLst/>
            <a:rect l="l" t="t" r="r" b="b"/>
            <a:pathLst>
              <a:path w="11921394" h="878063">
                <a:moveTo>
                  <a:pt x="0" y="0"/>
                </a:moveTo>
                <a:lnTo>
                  <a:pt x="11921394" y="0"/>
                </a:lnTo>
                <a:lnTo>
                  <a:pt x="11921394" y="878063"/>
                </a:lnTo>
                <a:lnTo>
                  <a:pt x="0" y="878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889904" y="7539647"/>
            <a:ext cx="10200851" cy="1989622"/>
          </a:xfrm>
          <a:custGeom>
            <a:avLst/>
            <a:gdLst/>
            <a:ahLst/>
            <a:cxnLst/>
            <a:rect l="l" t="t" r="r" b="b"/>
            <a:pathLst>
              <a:path w="10200851" h="1989622">
                <a:moveTo>
                  <a:pt x="0" y="0"/>
                </a:moveTo>
                <a:lnTo>
                  <a:pt x="10200851" y="0"/>
                </a:lnTo>
                <a:lnTo>
                  <a:pt x="10200851" y="1989622"/>
                </a:lnTo>
                <a:lnTo>
                  <a:pt x="0" y="1989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4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0146" y="497839"/>
            <a:ext cx="4118054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Análisis</a:t>
            </a:r>
            <a:r>
              <a:rPr lang="en-US" sz="3099" b="1" u="sng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horizontal</a:t>
            </a:r>
            <a:r>
              <a:rPr lang="en-US" sz="3099" b="1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0146" y="1114425"/>
            <a:ext cx="12728654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Analiza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evolución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las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cuentas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entre dos o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más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períodos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7524" y="1731011"/>
            <a:ext cx="1981676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Objetivos: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5669" y="2347597"/>
            <a:ext cx="8868331" cy="16167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Identificar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tendencias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Detectar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crecimientos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o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disminuciones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Evaluar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cambios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significativos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7524" y="4050032"/>
            <a:ext cx="1739146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82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Fórmula: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7524" y="4666618"/>
            <a:ext cx="4140676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Variación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absoluta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0146" y="6779863"/>
            <a:ext cx="3965654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Variación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relativa</a:t>
            </a:r>
            <a:r>
              <a:rPr lang="en-US" sz="3099" dirty="0">
                <a:solidFill>
                  <a:srgbClr val="FA00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12769" y="1838643"/>
            <a:ext cx="7662463" cy="1577566"/>
          </a:xfrm>
          <a:custGeom>
            <a:avLst/>
            <a:gdLst/>
            <a:ahLst/>
            <a:cxnLst/>
            <a:rect l="l" t="t" r="r" b="b"/>
            <a:pathLst>
              <a:path w="7662463" h="1577566">
                <a:moveTo>
                  <a:pt x="0" y="0"/>
                </a:moveTo>
                <a:lnTo>
                  <a:pt x="7662462" y="0"/>
                </a:lnTo>
                <a:lnTo>
                  <a:pt x="7662462" y="1577566"/>
                </a:lnTo>
                <a:lnTo>
                  <a:pt x="0" y="157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7047" y="4226243"/>
            <a:ext cx="6302878" cy="1953607"/>
          </a:xfrm>
          <a:custGeom>
            <a:avLst/>
            <a:gdLst/>
            <a:ahLst/>
            <a:cxnLst/>
            <a:rect l="l" t="t" r="r" b="b"/>
            <a:pathLst>
              <a:path w="6302878" h="1953607">
                <a:moveTo>
                  <a:pt x="0" y="0"/>
                </a:moveTo>
                <a:lnTo>
                  <a:pt x="6302878" y="0"/>
                </a:lnTo>
                <a:lnTo>
                  <a:pt x="6302878" y="1953607"/>
                </a:lnTo>
                <a:lnTo>
                  <a:pt x="0" y="1953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203126" y="4223295"/>
            <a:ext cx="5378075" cy="3123244"/>
          </a:xfrm>
          <a:custGeom>
            <a:avLst/>
            <a:gdLst/>
            <a:ahLst/>
            <a:cxnLst/>
            <a:rect l="l" t="t" r="r" b="b"/>
            <a:pathLst>
              <a:path w="5378075" h="3123244">
                <a:moveTo>
                  <a:pt x="0" y="0"/>
                </a:moveTo>
                <a:lnTo>
                  <a:pt x="5378075" y="0"/>
                </a:lnTo>
                <a:lnTo>
                  <a:pt x="5378075" y="3123244"/>
                </a:lnTo>
                <a:lnTo>
                  <a:pt x="0" y="31232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084874" y="389254"/>
            <a:ext cx="4573726" cy="595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 u="sng" dirty="0">
                <a:solidFill>
                  <a:srgbClr val="54DF64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CASO PRÁCTICO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7046" y="1136332"/>
            <a:ext cx="14123353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Distribuidora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Norte S.A.C.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registró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las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siguientes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ventas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7047" y="3523932"/>
            <a:ext cx="4217353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Variación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absoluta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65246" y="3520984"/>
            <a:ext cx="3683953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Variación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relativa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7047" y="7451314"/>
            <a:ext cx="17074356" cy="215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Conclusión: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Las ventas aumentaron en 30,000 con respecto al año anterior. Esto porcentualmente fue un aumento del 20%. Por ende, la empresa presenta una cambio positivo en sus ingresos.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84739" y="4585972"/>
            <a:ext cx="7511883" cy="4326845"/>
          </a:xfrm>
          <a:custGeom>
            <a:avLst/>
            <a:gdLst/>
            <a:ahLst/>
            <a:cxnLst/>
            <a:rect l="l" t="t" r="r" b="b"/>
            <a:pathLst>
              <a:path w="7511883" h="4326845">
                <a:moveTo>
                  <a:pt x="0" y="0"/>
                </a:moveTo>
                <a:lnTo>
                  <a:pt x="7511883" y="0"/>
                </a:lnTo>
                <a:lnTo>
                  <a:pt x="7511883" y="4326844"/>
                </a:lnTo>
                <a:lnTo>
                  <a:pt x="0" y="4326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141" t="-15800" r="-13861" b="-5399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2126" y="497839"/>
            <a:ext cx="8352274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spcBef>
                <a:spcPct val="0"/>
              </a:spcBef>
              <a:buAutoNum type="arabicPeriod"/>
            </a:pPr>
            <a:r>
              <a:rPr lang="en-US" sz="3099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</a:t>
            </a:r>
            <a:r>
              <a:rPr lang="en-US" sz="3099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mediante</a:t>
            </a:r>
            <a:r>
              <a:rPr lang="en-US" sz="3099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ratios </a:t>
            </a:r>
            <a:r>
              <a:rPr lang="en-US" sz="3099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financieros</a:t>
            </a:r>
            <a:r>
              <a:rPr lang="en-US" sz="3099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06400" y="1190625"/>
            <a:ext cx="11760200" cy="2702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Consiste en calcular indicadores financieros mediante relaciones matemáticas entre cuentas de los estados financieros.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Su finalidad es facilitar la interpretación y comparación de la información financiera.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6400" y="4055111"/>
            <a:ext cx="2184400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Ventajas</a:t>
            </a:r>
            <a:r>
              <a:rPr lang="en-US" sz="3099" b="1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2127" y="4747897"/>
            <a:ext cx="8504673" cy="26988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Simplifican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el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Facilitan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comparaciones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Permiten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evaluar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el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desempeño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Ayudan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detectar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problemas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financieros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84821" y="421957"/>
            <a:ext cx="9924197" cy="755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 u="sng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Enfoques</a:t>
            </a:r>
            <a:r>
              <a:rPr lang="en-US" sz="4699" u="sng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del </a:t>
            </a:r>
            <a:r>
              <a:rPr lang="en-US" sz="4699" u="sng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</a:t>
            </a:r>
            <a:r>
              <a:rPr lang="en-US" sz="4699" u="sng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4699" u="sng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financiero</a:t>
            </a:r>
            <a:endParaRPr lang="en-US" sz="4699" u="sng" dirty="0">
              <a:solidFill>
                <a:srgbClr val="FF0000"/>
              </a:solidFill>
              <a:latin typeface="Cy Grotesk Key"/>
              <a:ea typeface="Cy Grotesk Key"/>
              <a:cs typeface="Cy Grotesk Key"/>
              <a:sym typeface="Cy Grotesk Key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72182" y="1356992"/>
            <a:ext cx="13944600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Las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técnicas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pueden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aplicarse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bajo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diferentes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enfoques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8600" y="2062596"/>
            <a:ext cx="5047794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spcBef>
                <a:spcPct val="0"/>
              </a:spcBef>
              <a:buAutoNum type="arabicPeriod"/>
            </a:pPr>
            <a:r>
              <a:rPr lang="en-US" sz="3099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Enfoque sincrónico: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2182" y="2712404"/>
            <a:ext cx="15758418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Consiste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comparar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varias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durante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un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mismo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período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tiempo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1000" y="3271174"/>
            <a:ext cx="1966218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Ejemplo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2182" y="3821274"/>
            <a:ext cx="4099818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Comparar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2025: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2182" y="4314511"/>
            <a:ext cx="3109218" cy="16167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A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B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2182" y="6068065"/>
            <a:ext cx="16253718" cy="3245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analizan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simultáneamente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indicadores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como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liquidez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,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rentabilidad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y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endeudamiento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Esto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permite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conocer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posición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competitiva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actual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una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dentro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su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sector, para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así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poder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ver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cuál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es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una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mejor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opción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inversión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el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momento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, sin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tomar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cuenta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años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anteriores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o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futuros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; sin embargo,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este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método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tiene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el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riesgo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que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elegida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tenga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algún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tipo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deterioro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futuro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0003" y="500696"/>
            <a:ext cx="5153997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spcBef>
                <a:spcPct val="0"/>
              </a:spcBef>
              <a:buAutoNum type="arabicPeriod"/>
            </a:pPr>
            <a:r>
              <a:rPr lang="en-US" sz="3099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Enfoque</a:t>
            </a:r>
            <a:r>
              <a:rPr lang="en-US" sz="3099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diacrónico</a:t>
            </a:r>
            <a:r>
              <a:rPr lang="en-US" sz="3099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78611" y="1136332"/>
            <a:ext cx="16619696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Consiste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analizar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las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ventas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una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misma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durante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varios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períodos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8611" y="1771968"/>
            <a:ext cx="1701760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Ejemplo: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8610" y="2407604"/>
            <a:ext cx="7979590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Ventas de 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años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0003" y="3043240"/>
            <a:ext cx="4719995" cy="215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2022 → S/ 500,000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2023 → S/ 650,000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2024 → S/ 800,000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2025 → S/ 950,000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8611" y="5307650"/>
            <a:ext cx="1807389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Ventaja</a:t>
            </a:r>
            <a:r>
              <a:rPr lang="en-US" sz="3099" b="1" u="sng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8611" y="5943286"/>
            <a:ext cx="16776700" cy="2702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Permite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observar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tendencias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crecimiento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o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deterioro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financiero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, para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así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poder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decidir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si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es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una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buena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opción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inversión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a largo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plazo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; sin embargo, 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diferencia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del anterior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enfoque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, al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analizar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una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sola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, se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omite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el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hecho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que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podrían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haber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otras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con un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margen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incremento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incluso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mayor o con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unas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ventas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mayores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y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estables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9710" y="4017329"/>
            <a:ext cx="13793377" cy="2882031"/>
          </a:xfrm>
          <a:custGeom>
            <a:avLst/>
            <a:gdLst/>
            <a:ahLst/>
            <a:cxnLst/>
            <a:rect l="l" t="t" r="r" b="b"/>
            <a:pathLst>
              <a:path w="13793377" h="2882031">
                <a:moveTo>
                  <a:pt x="0" y="0"/>
                </a:moveTo>
                <a:lnTo>
                  <a:pt x="13793377" y="0"/>
                </a:lnTo>
                <a:lnTo>
                  <a:pt x="13793377" y="2882031"/>
                </a:lnTo>
                <a:lnTo>
                  <a:pt x="0" y="28820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8558" y="518315"/>
            <a:ext cx="6324977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spcBef>
                <a:spcPct val="0"/>
              </a:spcBef>
              <a:buAutoNum type="arabicPeriod"/>
            </a:pPr>
            <a:r>
              <a:rPr lang="en-US" sz="3099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</a:t>
            </a:r>
            <a:r>
              <a:rPr lang="en-US" sz="3099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datos</a:t>
            </a:r>
            <a:r>
              <a:rPr lang="en-US" sz="3099" dirty="0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panel: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1136332"/>
            <a:ext cx="17183100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Combina los enfoques sincrónico y diacrónico. Se estudian varias empresas durante varios períodos de tiempo, eliminando así las debilidades de ambos enfoques.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7200" y="2314893"/>
            <a:ext cx="16954877" cy="1616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Ejemplo: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Se evalua el desempeño de 3 empresas comparando el incremento que tuvo cada empresa, esto con un período de tiempo igual para las 3 empresas.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7200" y="8034802"/>
            <a:ext cx="2057400" cy="49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 u="sng" dirty="0" err="1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Ventajas</a:t>
            </a:r>
            <a:r>
              <a:rPr lang="en-US" sz="3099" b="1" dirty="0">
                <a:solidFill>
                  <a:srgbClr val="1400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1519" y="8550831"/>
            <a:ext cx="11513979" cy="1616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Mayor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profundidad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análisis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Mejor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comprensión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del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comportamiento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empresarial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Permite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identificar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tendencias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sectoriales</a:t>
            </a:r>
            <a:r>
              <a:rPr lang="en-US" sz="3099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6975848"/>
            <a:ext cx="17508974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Esto se hace con el fin de decidir cual de las empresas es una mejor opción de inversión observando el margen de crecimiento que tiene cada una.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60159" y="421957"/>
            <a:ext cx="3367683" cy="804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 u="sng">
                <a:solidFill>
                  <a:srgbClr val="FF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Conclusión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31800" y="1584007"/>
            <a:ext cx="16827500" cy="59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El análisis de estados financieros es una herramienta esencial para evaluar la situación económica y financiera de una organización. A través del estudio de la liquidez, solvencia y rentabilidad, así como mediante técnicas como el análisis vertical, horizontal y el uso de ratios financieros, es posible obtener información valiosa para la toma de decisiones. Además, los enfoques sincrónico, diacrónico y de datos de panel permiten realizar comparaciones más completas y comprender mejor el comportamiento de las empresas a lo largo del tiempo y frente a sus competidores. Esta información resulta fundamental para garantizar la sostenibilidad, competitividad y crecimiento de cualquier organización.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1727</Words>
  <Application>Microsoft Office PowerPoint</Application>
  <PresentationFormat>Personalizado</PresentationFormat>
  <Paragraphs>180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Cy Grotesk Wide</vt:lpstr>
      <vt:lpstr>Arial</vt:lpstr>
      <vt:lpstr>Cy Grotesk Key</vt:lpstr>
      <vt:lpstr>Calibri</vt:lpstr>
      <vt:lpstr>Cy Grotesk Key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presentado por Hilary bustios y dylan curay</dc:title>
  <dc:creator>Angela Silva Purizaga</dc:creator>
  <cp:lastModifiedBy>Dylan Curay Silva</cp:lastModifiedBy>
  <cp:revision>2</cp:revision>
  <dcterms:created xsi:type="dcterms:W3CDTF">2006-08-16T00:00:00Z</dcterms:created>
  <dcterms:modified xsi:type="dcterms:W3CDTF">2026-06-30T06:27:44Z</dcterms:modified>
  <dc:identifier>DAHN0kpjza0</dc:identifier>
</cp:coreProperties>
</file>